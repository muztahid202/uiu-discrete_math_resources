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28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36" autoAdjust="0"/>
  </p:normalViewPr>
  <p:slideViewPr>
    <p:cSldViewPr snapToGrid="0" snapToObjects="1">
      <p:cViewPr varScale="1">
        <p:scale>
          <a:sx n="78" d="100"/>
          <a:sy n="78" d="100"/>
        </p:scale>
        <p:origin x="73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BE1C7F-8531-4500-8F91-F3FAB5C6CE10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A739B-3D4C-4FDB-933A-DB657C44A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89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25535" y="-1371600"/>
            <a:ext cx="4937760" cy="4937760"/>
          </a:xfrm>
          <a:prstGeom prst="ellipse">
            <a:avLst/>
          </a:prstGeom>
          <a:solidFill>
            <a:srgbClr val="173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51560" y="658368"/>
            <a:ext cx="105156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777240"/>
            <a:ext cx="822960" cy="822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148840"/>
            <a:ext cx="93268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7B1D"/>
                </a:solidFill>
                <a:latin typeface="Segoe UI"/>
              </a:rPr>
              <a:t>CSE 2213  ·  DISCRETE MATHEMATICS  ·  LECTURE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06040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Propositional Logic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BFD4E6"/>
                </a:solidFill>
                <a:latin typeface="Segoe UI"/>
              </a:rPr>
              <a:t>Part 2  ·  Rosen, 8th edition  ·  Section 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709160"/>
            <a:ext cx="128016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983480"/>
            <a:ext cx="640080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Segoe UI"/>
              </a:rPr>
              <a:t>Masnoon Muztahid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Lecturer, Department of CSE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FD4E6"/>
                </a:solidFill>
                <a:latin typeface="Segoe UI"/>
              </a:rPr>
              <a:t>United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Today’s topics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10872216" cy="71323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82496"/>
            <a:ext cx="64008" cy="71323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6"/>
            <a:ext cx="1041501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Recall from Part 1: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is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false in exactly one case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— p is true and q is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15768"/>
            <a:ext cx="2441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" y="2715768"/>
            <a:ext cx="2441448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6968" y="29443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9300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Converse, inverse, contrapositive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three relatives of  </a:t>
            </a:r>
            <a:r>
              <a:rPr sz="1400" b="1" i="0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2715768"/>
            <a:ext cx="2441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65576" y="2715768"/>
            <a:ext cx="2441448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94176" y="29443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349300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Biconditional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40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300" b="0" i="0">
                <a:solidFill>
                  <a:srgbClr val="5F7388"/>
                </a:solidFill>
                <a:latin typeface="Segoe UI"/>
              </a:rPr>
              <a:t>  —  “if and only if”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2783" y="2715768"/>
            <a:ext cx="2441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72783" y="2715768"/>
            <a:ext cx="2441448" cy="6400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501383" y="29443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3" y="349300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Precedence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which operator goes first:  </a:t>
            </a:r>
            <a:r>
              <a:rPr sz="1400" b="1" i="0">
                <a:solidFill>
                  <a:srgbClr val="1F6FB2"/>
                </a:solidFill>
                <a:latin typeface="Cambria Math"/>
              </a:rPr>
              <a:t>¬ ∧ ∨ → 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79992" y="2715768"/>
            <a:ext cx="244144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79992" y="2715768"/>
            <a:ext cx="2441448" cy="6400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308592" y="294436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3493008"/>
            <a:ext cx="2011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Compound truth tables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400" b="1" i="0">
                <a:solidFill>
                  <a:srgbClr val="1F6FB2"/>
                </a:solidFill>
                <a:latin typeface="Cambria Math"/>
              </a:rPr>
              <a:t>p ∧ (¬q ∨ r)</a:t>
            </a:r>
            <a:r>
              <a:rPr sz="1300" b="0" i="0">
                <a:solidFill>
                  <a:srgbClr val="5F7388"/>
                </a:solidFill>
                <a:latin typeface="Segoe UI"/>
              </a:rPr>
              <a:t>  and friends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846320"/>
            <a:ext cx="108722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Why bother?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57800"/>
            <a:ext cx="10872216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Mixing up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and its converse is the most common reasoning error in proofs — and in arguments.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550" b="0" i="0">
                <a:solidFill>
                  <a:srgbClr val="1B2D3E"/>
                </a:solidFill>
                <a:latin typeface="Segoe UI"/>
              </a:rPr>
              <a:t>Every proof by contraposition you write this trimester uses today’s first idea.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RELATIVES OF P →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Converse, inverse and contrapositive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82496"/>
            <a:ext cx="10872216" cy="658368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82496"/>
            <a:ext cx="64008" cy="65836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82496"/>
            <a:ext cx="10415016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Start with a conditional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 Three new conditionals are built by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swapping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and/or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negating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its two parts.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60320"/>
            <a:ext cx="1087221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688336"/>
            <a:ext cx="1920240" cy="402336"/>
          </a:xfrm>
          <a:prstGeom prst="roundRect">
            <a:avLst>
              <a:gd name="adj" fmla="val 18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Conditional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560320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the original statement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560320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5F7388"/>
                </a:solidFill>
                <a:latin typeface="Segoe UI"/>
              </a:rPr>
              <a:t>“If p, then q.”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91839"/>
            <a:ext cx="10872216" cy="65836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3419856"/>
            <a:ext cx="1920240" cy="402336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Converse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291839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F6FB2"/>
                </a:solidFill>
                <a:latin typeface="Cambria Math"/>
              </a:rPr>
              <a:t>q →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3291839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B2D3E"/>
                </a:solidFill>
                <a:latin typeface="Segoe UI"/>
              </a:rPr>
              <a:t>swap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hypothesis and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291839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5F7388"/>
                </a:solidFill>
                <a:latin typeface="Segoe UI"/>
              </a:rPr>
              <a:t>“If q, then p.”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023359"/>
            <a:ext cx="10872216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4151375"/>
            <a:ext cx="1920240" cy="402336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Inverse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4023359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F6FB2"/>
                </a:solidFill>
                <a:latin typeface="Cambria Math"/>
              </a:rPr>
              <a:t>¬p → ¬q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023359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B2D3E"/>
                </a:solidFill>
                <a:latin typeface="Segoe UI"/>
              </a:rPr>
              <a:t>negate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both parts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4023359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5F7388"/>
                </a:solidFill>
                <a:latin typeface="Segoe UI"/>
              </a:rPr>
              <a:t>“If not p, then not q.”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54879"/>
            <a:ext cx="10872216" cy="65836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" y="4882895"/>
            <a:ext cx="1920240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Contrapositive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4754879"/>
            <a:ext cx="20116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000" b="1" i="0">
                <a:solidFill>
                  <a:srgbClr val="1F6FB2"/>
                </a:solidFill>
                <a:latin typeface="Cambria Math"/>
              </a:rPr>
              <a:t>¬q → ¬p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754879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B2D3E"/>
                </a:solidFill>
                <a:latin typeface="Segoe UI"/>
              </a:rPr>
              <a:t>swap and negate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754879"/>
            <a:ext cx="29260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5F7388"/>
                </a:solidFill>
                <a:latin typeface="Segoe UI"/>
              </a:rPr>
              <a:t>“If not q, then not p.”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32120"/>
            <a:ext cx="10872216" cy="64008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5532120"/>
            <a:ext cx="64008" cy="64008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32120"/>
            <a:ext cx="10415016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Memory trick: the contrapositive is the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converse of the inverse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— do both moves.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In Dhaka, so in Bangladesh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I am in Dhaka            </a:t>
            </a:r>
            <a:r>
              <a:rPr sz="17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I am in Bangladesh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95728"/>
            <a:ext cx="7406640" cy="64008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395728"/>
            <a:ext cx="704087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“ If I am in Dhaka then I am in Bangladesh. ”    </a:t>
            </a:r>
            <a:r>
              <a:rPr sz="1900" b="1" i="0">
                <a:solidFill>
                  <a:srgbClr val="9CC7F0"/>
                </a:solidFill>
                <a:latin typeface="Cambria Math"/>
              </a:rPr>
              <a:t>p →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Converse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q → p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 am in Bangladesh, then I am in Dhaka.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C23B2E"/>
                </a:solidFill>
                <a:latin typeface="Segoe UI"/>
              </a:rPr>
              <a:t>NOT GUARANTEED — I could be in Chattogram.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Inverse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 am not in Dhaka, then I am not in Bangladesh.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C23B2E"/>
                </a:solidFill>
                <a:latin typeface="Segoe UI"/>
              </a:rPr>
              <a:t>NOT GUARANTEED — same counterexample.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Contrapositive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¬q → ¬p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 am not in Bangladesh, then I am not in Dhaka.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1C8A55"/>
                </a:solidFill>
                <a:latin typeface="Segoe UI"/>
              </a:rPr>
              <a:t>ALWAYS TRUE when the original 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original is true. Its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contrapositive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keeps that truth — the converse and inverse do not.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If it rains, I will stay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It rains            </a:t>
            </a:r>
            <a:r>
              <a:rPr sz="17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I will stay home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395728"/>
            <a:ext cx="7406640" cy="64008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2395728"/>
            <a:ext cx="704087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“ If it rains then I will stay home ”    </a:t>
            </a:r>
            <a:r>
              <a:rPr sz="1900" b="1" i="0">
                <a:solidFill>
                  <a:srgbClr val="9CC7F0"/>
                </a:solidFill>
                <a:latin typeface="Cambria Math"/>
              </a:rPr>
              <a:t>p →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Converse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q → p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 stay home, then it is raining.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C23B2E"/>
                </a:solidFill>
                <a:latin typeface="Segoe UI"/>
              </a:rPr>
              <a:t>NOT GUARANTEED — I may stay home for another reason.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Inverse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it does not rain, I will not stay home.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C23B2E"/>
                </a:solidFill>
                <a:latin typeface="Segoe UI"/>
              </a:rPr>
              <a:t>NOT GUARANTEED — the promise says nothing about dry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3246120"/>
            <a:ext cx="3465576" cy="205740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3401568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Contrapositive 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¬q → ¬p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If I do not stay home, it is not raining.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1" i="0">
                <a:solidFill>
                  <a:srgbClr val="1C8A55"/>
                </a:solidFill>
                <a:latin typeface="Segoe UI"/>
              </a:rPr>
              <a:t>LOGICALLY EQUIVALENT to the original:  ¬q → ¬p  ≡  p → 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The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contrapositive is logically equivalent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to the original. Converse and inverse make claims the speaker never made.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A SECOND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Is the converse equivalent to the inverse?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91640"/>
            <a:ext cx="7406640" cy="64008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704087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Is   </a:t>
            </a:r>
            <a:r>
              <a:rPr sz="2100" b="1" i="0">
                <a:solidFill>
                  <a:srgbClr val="9CC7F0"/>
                </a:solidFill>
                <a:latin typeface="Cambria Math"/>
              </a:rPr>
              <a:t>q → p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  logically equivalent to   </a:t>
            </a:r>
            <a:r>
              <a:rPr sz="2100" b="1" i="0">
                <a:solidFill>
                  <a:srgbClr val="9CC7F0"/>
                </a:solidFill>
                <a:latin typeface="Cambria Math"/>
              </a:rPr>
              <a:t>¬p → ¬q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560320"/>
            <a:ext cx="5303520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761488"/>
            <a:ext cx="484632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Example 1 · Dhaka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500" b="1" i="0">
                <a:solidFill>
                  <a:srgbClr val="1B2D3E"/>
                </a:solidFill>
                <a:latin typeface="Segoe UI"/>
              </a:rPr>
              <a:t>Converse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q → 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If I am in Bangladesh, then I am in Dhaka.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Inverse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If I am not in Dhaka, then I am not in Bangladesh.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00" b="1" i="0">
                <a:solidFill>
                  <a:srgbClr val="C23B2E"/>
                </a:solidFill>
                <a:latin typeface="Segoe UI"/>
              </a:rPr>
              <a:t>Both fail together: I am in Chattogram  (q = T, p = F).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5603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2560320"/>
            <a:ext cx="5303520" cy="64008"/>
          </a:xfrm>
          <a:prstGeom prst="rect">
            <a:avLst/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761488"/>
            <a:ext cx="484632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Example 2 · Rain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500" b="1" i="0">
                <a:solidFill>
                  <a:srgbClr val="1B2D3E"/>
                </a:solidFill>
                <a:latin typeface="Segoe UI"/>
              </a:rPr>
              <a:t>Converse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q → 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If I stay home, then it is raining.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500" b="1" i="0">
                <a:solidFill>
                  <a:srgbClr val="1B2D3E"/>
                </a:solidFill>
                <a:latin typeface="Segoe UI"/>
              </a:rPr>
              <a:t>Inverse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If it does not rain, I will not stay home.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00" b="1" i="0">
                <a:solidFill>
                  <a:srgbClr val="C23B2E"/>
                </a:solidFill>
                <a:latin typeface="Segoe UI"/>
              </a:rPr>
              <a:t>Both fail together: a dry day, I stay home  (p = F, q = 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1C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B2D3E"/>
                </a:solidFill>
                <a:latin typeface="Segoe UI"/>
              </a:rPr>
              <a:t>Yes.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The inverse is the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contrapositive of the converse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, so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q → p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≡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¬p → ¬q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  The truth table proves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PROOF BY TRUTH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Which of the four say the same thing?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7132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5F7388"/>
                </a:solidFill>
                <a:latin typeface="Segoe UI"/>
              </a:rPr>
              <a:t>Conditional  ·  Converse  ·  Inverse  ·  Contrapositive  (left to right, after p and q)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82296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81328" y="2011680"/>
            <a:ext cx="82296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04288" y="2011680"/>
            <a:ext cx="1325880" cy="5029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p → 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0168" y="2011680"/>
            <a:ext cx="1325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q → 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6048" y="2011680"/>
            <a:ext cx="141732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¬p → ¬q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73368" y="2011680"/>
            <a:ext cx="1417320" cy="5029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¬q → ¬p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146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81328" y="25146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04288" y="2514600"/>
            <a:ext cx="132588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0168" y="2514600"/>
            <a:ext cx="132588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2514600"/>
            <a:ext cx="141732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3368" y="2514600"/>
            <a:ext cx="141732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971800"/>
            <a:ext cx="82296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81328" y="2971800"/>
            <a:ext cx="82296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04288" y="2971800"/>
            <a:ext cx="132588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2971800"/>
            <a:ext cx="132588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2971800"/>
            <a:ext cx="141732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3368" y="2971800"/>
            <a:ext cx="141732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81328" y="3429000"/>
            <a:ext cx="822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3429000"/>
            <a:ext cx="132588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0168" y="3429000"/>
            <a:ext cx="132588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3429000"/>
            <a:ext cx="141732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73368" y="3429000"/>
            <a:ext cx="141732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886200"/>
            <a:ext cx="82296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1328" y="3886200"/>
            <a:ext cx="82296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04288" y="3886200"/>
            <a:ext cx="132588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0168" y="3886200"/>
            <a:ext cx="132588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56048" y="3886200"/>
            <a:ext cx="1417320" cy="457200"/>
          </a:xfrm>
          <a:prstGeom prst="rect">
            <a:avLst/>
          </a:prstGeom>
          <a:solidFill>
            <a:srgbClr val="E8F1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3368" y="3886200"/>
            <a:ext cx="141732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92440" y="2011680"/>
            <a:ext cx="3438144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92440" y="2011680"/>
            <a:ext cx="3438144" cy="6400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2212848"/>
            <a:ext cx="2980944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Orange columns match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8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 ≡  </a:t>
            </a:r>
            <a:r>
              <a:rPr sz="1800" b="1" i="0">
                <a:solidFill>
                  <a:srgbClr val="1F6FB2"/>
                </a:solidFill>
                <a:latin typeface="Cambria Math"/>
              </a:rPr>
              <a:t>¬q → ¬p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conditional = contrapositive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3767328"/>
            <a:ext cx="3438144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092440" y="3767328"/>
            <a:ext cx="3438144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21040" y="3968496"/>
            <a:ext cx="2980944" cy="1252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Blue columns match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800" b="1" i="0">
                <a:solidFill>
                  <a:srgbClr val="1F6FB2"/>
                </a:solidFill>
                <a:latin typeface="Cambria Math"/>
              </a:rPr>
              <a:t>q → p</a:t>
            </a:r>
            <a:r>
              <a:rPr sz="1700" b="0" i="0">
                <a:solidFill>
                  <a:srgbClr val="1B2D3E"/>
                </a:solidFill>
                <a:latin typeface="Segoe UI"/>
              </a:rPr>
              <a:t>  ≡  </a:t>
            </a:r>
            <a:r>
              <a:rPr sz="18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converse = inverse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Row 2 (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p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= T,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= F): the conditional is </a:t>
            </a:r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but the converse is </a:t>
            </a:r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— so they can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never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 swapped.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ONE THING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Equivalent pairs — and a classic mistake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5303520" cy="64008"/>
          </a:xfrm>
          <a:prstGeom prst="rect">
            <a:avLst/>
          </a:prstGeom>
          <a:solidFill>
            <a:srgbClr val="1C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92808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Always safe to swap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23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2200" b="0" i="0">
                <a:solidFill>
                  <a:srgbClr val="1B2D3E"/>
                </a:solidFill>
                <a:latin typeface="Segoe UI"/>
              </a:rPr>
              <a:t>   ≡   </a:t>
            </a:r>
            <a:r>
              <a:rPr sz="2300" b="1" i="0">
                <a:solidFill>
                  <a:srgbClr val="1F6FB2"/>
                </a:solidFill>
                <a:latin typeface="Cambria Math"/>
              </a:rPr>
              <a:t>¬q → ¬p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To prove “if p then q” you may instead prove “if not q then not p”.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27064" y="1691640"/>
            <a:ext cx="5303520" cy="214884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27064" y="1691640"/>
            <a:ext cx="5303520" cy="64008"/>
          </a:xfrm>
          <a:prstGeom prst="rect">
            <a:avLst/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892808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Never safe to swap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23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2200" b="0" i="0">
                <a:solidFill>
                  <a:srgbClr val="1B2D3E"/>
                </a:solidFill>
                <a:latin typeface="Segoe UI"/>
              </a:rPr>
              <a:t>   ≢   </a:t>
            </a:r>
            <a:r>
              <a:rPr sz="2300" b="1" i="0">
                <a:solidFill>
                  <a:srgbClr val="1F6FB2"/>
                </a:solidFill>
                <a:latin typeface="Cambria Math"/>
              </a:rPr>
              <a:t>q → p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50" b="0" i="0">
                <a:solidFill>
                  <a:srgbClr val="5F7388"/>
                </a:solidFill>
                <a:latin typeface="Segoe UI"/>
              </a:rPr>
              <a:t>Knowing “if p then q” tells you nothing about “if q then p”.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069080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A classic mistake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526280"/>
            <a:ext cx="10872216" cy="160020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4526280"/>
            <a:ext cx="64008" cy="1600200"/>
          </a:xfrm>
          <a:prstGeom prst="rect">
            <a:avLst/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10415016" cy="160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“If a number is divisible by 4, it is even.  12 is even, so 12 is divisible by 4.”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600" b="0" i="0">
                <a:solidFill>
                  <a:srgbClr val="1B2D3E"/>
                </a:solidFill>
                <a:latin typeface="Segoe UI"/>
              </a:rPr>
              <a:t>The conclusion happens to be true, but the reasoning used the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converse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 Try 6 — it is even, but </a:t>
            </a:r>
            <a:r>
              <a:rPr sz="1600" b="1" i="0">
                <a:solidFill>
                  <a:srgbClr val="C23B2E"/>
                </a:solidFill>
                <a:latin typeface="Segoe UI"/>
              </a:rPr>
              <a:t>not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divisible by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CONNECTIVE 6 · BICONDITIONAL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9224" y="685800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Biconditional  —  p ↔ q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10872216" cy="82296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64008" cy="8229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10415016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The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biconditional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is the proposition “p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if and only if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q”. It is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when p and q have the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same truth value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, and false otherwise.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43200"/>
            <a:ext cx="4754880" cy="123444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743200"/>
            <a:ext cx="438912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“ p if and only if q 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60520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Also called a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bi-implication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— an implication in both directions.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500" b="0" i="0">
                <a:solidFill>
                  <a:srgbClr val="1B2D3E"/>
                </a:solidFill>
                <a:latin typeface="Segoe UI"/>
              </a:rPr>
              <a:t>Symbol: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↔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=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→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and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←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74320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Other ways to say  </a:t>
            </a:r>
            <a:r>
              <a:rPr sz="1750" b="1" i="0">
                <a:solidFill>
                  <a:srgbClr val="1F6FB2"/>
                </a:solidFill>
                <a:latin typeface="Cambria Math"/>
              </a:rPr>
              <a:t>p ↔ 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3154680"/>
            <a:ext cx="57698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3273634"/>
            <a:ext cx="5486400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1B2D3E"/>
                </a:solidFill>
                <a:latin typeface="Segoe UI"/>
              </a:rPr>
              <a:t>“p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 and q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 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are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 necessary and sufficient for </a:t>
            </a:r>
            <a:r>
              <a:rPr lang="en-US" sz="1500" b="0" i="0" dirty="0">
                <a:solidFill>
                  <a:srgbClr val="1B2D3E"/>
                </a:solidFill>
                <a:latin typeface="Segoe UI"/>
              </a:rPr>
              <a:t>each other</a:t>
            </a:r>
            <a:r>
              <a:rPr sz="1500" b="0" i="0" dirty="0">
                <a:solidFill>
                  <a:srgbClr val="1B2D3E"/>
                </a:solidFill>
                <a:latin typeface="Segoe UI"/>
              </a:rPr>
              <a:t>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3685032"/>
            <a:ext cx="5769864" cy="457200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0" y="368503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“if p then q, and conversely”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4215384"/>
            <a:ext cx="5769864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0" y="4215384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“p iff q”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60720" y="4745736"/>
            <a:ext cx="5769864" cy="457200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0" y="474573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“p exactly when q”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has exactly the same truth value as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(p → q) ∧ (q → p)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—  a conditional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its converse.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BICONDITIONAL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Understanding with a simple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An integer is even.            </a:t>
            </a:r>
            <a:r>
              <a:rPr sz="17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An integer is divisible by 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2395728"/>
            <a:ext cx="8503920" cy="64008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11680" y="2395728"/>
            <a:ext cx="8138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“ An integer is even if and only if it is divisible by 2. ”    </a:t>
            </a:r>
            <a:r>
              <a:rPr sz="1900" b="1" i="0">
                <a:solidFill>
                  <a:srgbClr val="9CC7F0"/>
                </a:solidFill>
                <a:latin typeface="Cambria Math"/>
              </a:rPr>
              <a:t>p ↔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46120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What does this mean?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639312"/>
            <a:ext cx="576072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6384" y="3730752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639312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If an integer is even, then it is divisible by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639312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p → 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261104"/>
            <a:ext cx="5760720" cy="530352"/>
          </a:xfrm>
          <a:prstGeom prst="roundRect">
            <a:avLst>
              <a:gd name="adj" fmla="val 10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86384" y="4352544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4261104"/>
            <a:ext cx="393192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If an integer is divisible by 2, then it is even.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261104"/>
            <a:ext cx="10515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q → 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3776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02A43"/>
                </a:solidFill>
                <a:latin typeface="Segoe UI"/>
              </a:rPr>
              <a:t>Both directions must hold.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46120"/>
            <a:ext cx="480974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For example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639312"/>
            <a:ext cx="4809744" cy="713232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03720" y="3639312"/>
            <a:ext cx="548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02A43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69417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is even and is divisible by 2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400" b="1" i="0">
                <a:solidFill>
                  <a:srgbClr val="1C8A55"/>
                </a:solidFill>
                <a:latin typeface="Segoe UI"/>
              </a:rPr>
              <a:t>Both 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4462272"/>
            <a:ext cx="4809744" cy="713232"/>
          </a:xfrm>
          <a:prstGeom prst="roundRect">
            <a:avLst>
              <a:gd name="adj" fmla="val 8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03720" y="4462272"/>
            <a:ext cx="54864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600" b="1" i="0">
                <a:solidFill>
                  <a:srgbClr val="102A43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517136"/>
            <a:ext cx="39319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is not even and is not divisible by 2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400" b="1" i="0">
                <a:solidFill>
                  <a:srgbClr val="1C8A55"/>
                </a:solidFill>
                <a:latin typeface="Segoe UI"/>
              </a:rPr>
              <a:t>Both false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Therefore, the two propositions always have the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same truth value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— so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is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EXAMPLE · ROSEN EXAMPLE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You can take the flight if and only if you buy a ticket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You can take the flight            </a:t>
            </a:r>
            <a:r>
              <a:rPr sz="17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600" b="0" i="0">
                <a:solidFill>
                  <a:srgbClr val="FFFFFF"/>
                </a:solidFill>
                <a:latin typeface="Segoe UI"/>
              </a:rPr>
              <a:t> :  You buy a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10872216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When is  </a:t>
            </a:r>
            <a:r>
              <a:rPr sz="190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800" b="1" i="0">
                <a:solidFill>
                  <a:srgbClr val="102A43"/>
                </a:solidFill>
                <a:latin typeface="Segoe UI"/>
              </a:rPr>
              <a:t>  true?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971800"/>
            <a:ext cx="2441448" cy="224028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31546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Ticket bought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02A43"/>
                </a:solidFill>
                <a:latin typeface="Segoe UI"/>
              </a:rPr>
              <a:t>You fly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0" i="0">
                <a:solidFill>
                  <a:srgbClr val="5F7388"/>
                </a:solidFill>
                <a:latin typeface="Segoe UI"/>
              </a:rPr>
              <a:t>p = T,  q = 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971800"/>
            <a:ext cx="2441448" cy="224028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94176" y="31546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No ticket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02A43"/>
                </a:solidFill>
                <a:latin typeface="Segoe UI"/>
              </a:rPr>
              <a:t>You fly (free trip)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0" i="0">
                <a:solidFill>
                  <a:srgbClr val="5F7388"/>
                </a:solidFill>
                <a:latin typeface="Segoe UI"/>
              </a:rPr>
              <a:t>p = T,  q = F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3" y="2971800"/>
            <a:ext cx="2441448" cy="2240280"/>
          </a:xfrm>
          <a:prstGeom prst="roundRect">
            <a:avLst>
              <a:gd name="adj" fmla="val 5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3" y="31546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Ticket bought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02A43"/>
                </a:solidFill>
                <a:latin typeface="Segoe UI"/>
              </a:rPr>
              <a:t>You can’t fly (bumped)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0" i="0">
                <a:solidFill>
                  <a:srgbClr val="5F7388"/>
                </a:solidFill>
                <a:latin typeface="Segoe UI"/>
              </a:rPr>
              <a:t>p = F,  q = 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C23B2E"/>
                </a:solidFill>
                <a:latin typeface="Segoe UI"/>
              </a:rPr>
              <a:t>FALSE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2971800"/>
            <a:ext cx="2441448" cy="2240280"/>
          </a:xfrm>
          <a:prstGeom prst="roundRect">
            <a:avLst>
              <a:gd name="adj" fmla="val 5000"/>
            </a:avLst>
          </a:prstGeom>
          <a:solidFill>
            <a:srgbClr val="EC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8592" y="3154680"/>
            <a:ext cx="20116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1" i="0">
                <a:solidFill>
                  <a:srgbClr val="102A43"/>
                </a:solidFill>
                <a:latin typeface="Segoe UI"/>
              </a:rPr>
              <a:t>No ticket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02A43"/>
                </a:solidFill>
                <a:latin typeface="Segoe UI"/>
              </a:rPr>
              <a:t>You don’t fly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350" b="0" i="0">
                <a:solidFill>
                  <a:srgbClr val="5F7388"/>
                </a:solidFill>
                <a:latin typeface="Segoe UI"/>
              </a:rPr>
              <a:t>p = F,  q = F</a:t>
            </a:r>
          </a:p>
          <a:p>
            <a:pPr algn="l">
              <a:lnSpc>
                <a:spcPct val="95000"/>
              </a:lnSpc>
              <a:spcBef>
                <a:spcPts val="800"/>
              </a:spcBef>
            </a:pPr>
            <a:r>
              <a:rPr sz="1600" b="1" i="0">
                <a:solidFill>
                  <a:srgbClr val="1C8A55"/>
                </a:solidFill>
                <a:latin typeface="Segoe UI"/>
              </a:rPr>
              <a:t>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The parts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agree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→ true.  The parts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disagree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→ false.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THE BICONDITIONAL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a biconditional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10872216" cy="713232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64008" cy="71323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10415016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is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true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exactly when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and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q → p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are both true — that is, when p and q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match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697480"/>
            <a:ext cx="91440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72768" y="2697480"/>
            <a:ext cx="91440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87168" y="2697480"/>
            <a:ext cx="123444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p →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1608" y="2697480"/>
            <a:ext cx="123444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q → 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6048" y="2697480"/>
            <a:ext cx="1234440" cy="5029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 Math"/>
              </a:rPr>
              <a:t>p ↔ 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2004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72768" y="32004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87168" y="32004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21608" y="32004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56048" y="3200400"/>
            <a:ext cx="123444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657600"/>
            <a:ext cx="91440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2768" y="3657600"/>
            <a:ext cx="91440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3657600"/>
            <a:ext cx="123444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21608" y="3657600"/>
            <a:ext cx="123444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6048" y="3657600"/>
            <a:ext cx="123444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72768" y="411480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87168" y="41148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21608" y="411480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56048" y="4114800"/>
            <a:ext cx="123444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572000"/>
            <a:ext cx="91440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72768" y="4572000"/>
            <a:ext cx="91440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87168" y="4572000"/>
            <a:ext cx="123444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21608" y="4572000"/>
            <a:ext cx="1234440" cy="45720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56048" y="4572000"/>
            <a:ext cx="1234440" cy="45720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0" y="3429000"/>
            <a:ext cx="548640" cy="0"/>
          </a:xfrm>
          <a:prstGeom prst="line">
            <a:avLst/>
          </a:prstGeom>
          <a:ln w="15875">
            <a:solidFill>
              <a:srgbClr val="1C8A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86600" y="32461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C8A55"/>
                </a:solidFill>
                <a:latin typeface="Segoe UI"/>
              </a:rPr>
              <a:t>Same values — both true  →  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00800" y="3886200"/>
            <a:ext cx="548640" cy="0"/>
          </a:xfrm>
          <a:prstGeom prst="line">
            <a:avLst/>
          </a:prstGeom>
          <a:ln w="15875">
            <a:solidFill>
              <a:srgbClr val="C23B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86600" y="37033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C23B2E"/>
                </a:solidFill>
                <a:latin typeface="Segoe UI"/>
              </a:rPr>
              <a:t>Different values  →  F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0" y="4343400"/>
            <a:ext cx="548640" cy="0"/>
          </a:xfrm>
          <a:prstGeom prst="line">
            <a:avLst/>
          </a:prstGeom>
          <a:ln w="15875">
            <a:solidFill>
              <a:srgbClr val="C23B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086600" y="41605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C23B2E"/>
                </a:solidFill>
                <a:latin typeface="Segoe UI"/>
              </a:rPr>
              <a:t>Different values  →  F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400800" y="4800600"/>
            <a:ext cx="548640" cy="0"/>
          </a:xfrm>
          <a:prstGeom prst="line">
            <a:avLst/>
          </a:prstGeom>
          <a:ln w="15875">
            <a:solidFill>
              <a:srgbClr val="1C8A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086600" y="4617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C8A55"/>
                </a:solidFill>
                <a:latin typeface="Segoe UI"/>
              </a:rPr>
              <a:t>Same values — both false  →  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Memory hook: 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same → true,  different → false.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The two middle columns show why.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PRECEDENCE OF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Why do we need precedence?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91640"/>
            <a:ext cx="7406640" cy="685800"/>
          </a:xfrm>
          <a:prstGeom prst="roundRect">
            <a:avLst>
              <a:gd name="adj" fmla="val 1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691640"/>
            <a:ext cx="7040879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What does   </a:t>
            </a:r>
            <a:r>
              <a:rPr sz="2100" b="1" i="0">
                <a:solidFill>
                  <a:srgbClr val="9CC7F0"/>
                </a:solidFill>
                <a:latin typeface="Cambria Math"/>
              </a:rPr>
              <a:t>¬p ∧ q</a:t>
            </a:r>
            <a:r>
              <a:rPr sz="2000" b="1" i="0">
                <a:solidFill>
                  <a:srgbClr val="FFFFFF"/>
                </a:solidFill>
                <a:latin typeface="Segoe UI"/>
              </a:rPr>
              <a:t>   mean?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606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" y="2606040"/>
            <a:ext cx="5303520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80720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F6FB2"/>
                </a:solidFill>
                <a:latin typeface="Segoe UI"/>
              </a:rPr>
              <a:t>Reading A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(¬p) ∧ q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00" b="0" i="0">
                <a:solidFill>
                  <a:srgbClr val="5F7388"/>
                </a:solidFill>
                <a:latin typeface="Segoe UI"/>
              </a:rPr>
              <a:t>“not p”, and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6060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27064" y="2606040"/>
            <a:ext cx="5303520" cy="64008"/>
          </a:xfrm>
          <a:prstGeom prst="rect">
            <a:avLst/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807208"/>
            <a:ext cx="48463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6B4EA8"/>
                </a:solidFill>
                <a:latin typeface="Segoe UI"/>
              </a:rPr>
              <a:t>Reading B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¬(p ∧ q)</a:t>
            </a:r>
          </a:p>
          <a:p>
            <a:pPr algn="l">
              <a:lnSpc>
                <a:spcPct val="95000"/>
              </a:lnSpc>
              <a:spcBef>
                <a:spcPts val="600"/>
              </a:spcBef>
            </a:pPr>
            <a:r>
              <a:rPr sz="1400" b="0" i="0">
                <a:solidFill>
                  <a:srgbClr val="5F7388"/>
                </a:solidFill>
                <a:latin typeface="Segoe UI"/>
              </a:rPr>
              <a:t>not (“p and q”)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160520"/>
            <a:ext cx="1087221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800" b="1" i="0">
                <a:solidFill>
                  <a:srgbClr val="102A43"/>
                </a:solidFill>
                <a:latin typeface="Segoe UI"/>
              </a:rPr>
              <a:t>Test with  p = F,  q = 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572000"/>
            <a:ext cx="5303520" cy="73152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572000"/>
            <a:ext cx="64008" cy="7315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A: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(¬p) ∧ q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=  T ∧ F  =  </a:t>
            </a:r>
            <a:r>
              <a:rPr sz="16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7064" y="4572000"/>
            <a:ext cx="5303520" cy="731520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7064" y="4572000"/>
            <a:ext cx="64008" cy="7315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5720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B: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¬(p ∧ q)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  =  ¬F  =  </a:t>
            </a:r>
            <a:r>
              <a:rPr sz="16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Different answers! The rule: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¬ is applied first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, so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¬p ∧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 means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(¬p) ∧ q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PRECEDENCE OF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The precedence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173736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Operator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395728" y="1783080"/>
            <a:ext cx="173736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Precedence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286000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100" b="1" i="0">
                <a:solidFill>
                  <a:srgbClr val="1F6FB2"/>
                </a:solidFill>
                <a:latin typeface="Cambria Math"/>
              </a:rPr>
              <a:t>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95728" y="2286000"/>
            <a:ext cx="1737360" cy="54864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1" i="0">
                <a:solidFill>
                  <a:srgbClr val="F07B1D"/>
                </a:solidFill>
                <a:latin typeface="Segoe U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834640"/>
            <a:ext cx="173736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100" b="1" i="0">
                <a:solidFill>
                  <a:srgbClr val="1F6FB2"/>
                </a:solidFill>
                <a:latin typeface="Cambria Math"/>
              </a:rPr>
              <a:t>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95728" y="2834640"/>
            <a:ext cx="1737360" cy="54864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1" i="0">
                <a:solidFill>
                  <a:srgbClr val="F07B1D"/>
                </a:solidFill>
                <a:latin typeface="Segoe UI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383280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100" b="1" i="0">
                <a:solidFill>
                  <a:srgbClr val="1F6FB2"/>
                </a:solidFill>
                <a:latin typeface="Cambria Math"/>
              </a:rPr>
              <a:t>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95728" y="3383280"/>
            <a:ext cx="1737360" cy="54864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1" i="0">
                <a:solidFill>
                  <a:srgbClr val="F07B1D"/>
                </a:solidFill>
                <a:latin typeface="Segoe U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931920"/>
            <a:ext cx="1737360" cy="548640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100" b="1" i="0">
                <a:solidFill>
                  <a:srgbClr val="1F6FB2"/>
                </a:solidFill>
                <a:latin typeface="Cambria Math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95728" y="3931920"/>
            <a:ext cx="1737360" cy="54864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1" i="0">
                <a:solidFill>
                  <a:srgbClr val="F07B1D"/>
                </a:solidFill>
                <a:latin typeface="Segoe UI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480560"/>
            <a:ext cx="1737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2100" b="1" i="0">
                <a:solidFill>
                  <a:srgbClr val="1F6FB2"/>
                </a:solidFill>
                <a:latin typeface="Cambria Math"/>
              </a:rPr>
              <a:t>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95728" y="4480560"/>
            <a:ext cx="1737360" cy="548640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800" b="1" i="0">
                <a:solidFill>
                  <a:srgbClr val="F07B1D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16636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00" b="0" i="0">
                <a:solidFill>
                  <a:srgbClr val="5F7388"/>
                </a:solidFill>
                <a:latin typeface="Segoe UI"/>
              </a:rPr>
              <a:t>1 = applied first  ·  5 = applied last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1783080"/>
            <a:ext cx="695858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54880" y="195681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1856231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¬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is applied before every other operator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unary operators come before binary ones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2651760"/>
            <a:ext cx="6958584" cy="74980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54880" y="282549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72491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∧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is applied before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∨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like × before + in arithmetic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0" y="3520439"/>
            <a:ext cx="695858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754880" y="369417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593591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∧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and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∨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come before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→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and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↔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the arrows bind most loosely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4389120"/>
            <a:ext cx="6958584" cy="749808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754880" y="456285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462272"/>
            <a:ext cx="6035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→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 is applied before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↔</a:t>
            </a:r>
          </a:p>
          <a:p>
            <a:pPr algn="l">
              <a:lnSpc>
                <a:spcPct val="95000"/>
              </a:lnSpc>
              <a:spcBef>
                <a:spcPts val="200"/>
              </a:spcBef>
            </a:pPr>
            <a:r>
              <a:rPr sz="1300" b="0" i="0">
                <a:solidFill>
                  <a:srgbClr val="5F7388"/>
                </a:solidFill>
                <a:latin typeface="Segoe UI"/>
              </a:rPr>
              <a:t>we will still use parentheses here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Good practice: when the order could confuse a reader,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add parentheses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 — they never hurt.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PRECEDENCE OF OPERATORS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Precedence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265176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Expression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737360"/>
            <a:ext cx="2743200" cy="502920"/>
          </a:xfrm>
          <a:prstGeom prst="rect">
            <a:avLst/>
          </a:prstGeom>
          <a:solidFill>
            <a:srgbClr val="1C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53328" y="1737360"/>
            <a:ext cx="2743200" cy="502920"/>
          </a:xfrm>
          <a:prstGeom prst="rect">
            <a:avLst/>
          </a:prstGeom>
          <a:solidFill>
            <a:srgbClr val="C2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Does NOT mean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96528" y="1737360"/>
            <a:ext cx="2734056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Rule used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40280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02A43"/>
                </a:solidFill>
                <a:latin typeface="Cambria Math"/>
              </a:rPr>
              <a:t>¬p ∧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2240280"/>
            <a:ext cx="2743200" cy="603504"/>
          </a:xfrm>
          <a:prstGeom prst="rect">
            <a:avLst/>
          </a:prstGeom>
          <a:solidFill>
            <a:srgbClr val="ECF7F2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C8A55"/>
                </a:solidFill>
                <a:latin typeface="Cambria Math"/>
              </a:rPr>
              <a:t>(¬p) ∧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2240280"/>
            <a:ext cx="2743200" cy="603504"/>
          </a:xfrm>
          <a:prstGeom prst="rect">
            <a:avLst/>
          </a:prstGeom>
          <a:solidFill>
            <a:srgbClr val="FDECE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C23B2E"/>
                </a:solidFill>
                <a:latin typeface="Cambria Math"/>
              </a:rPr>
              <a:t>¬(p ∧ q)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96528" y="2240280"/>
            <a:ext cx="273405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02A43"/>
                </a:solidFill>
                <a:latin typeface="Cambria Math"/>
              </a:rPr>
              <a:t>¬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43784"/>
            <a:ext cx="2651760" cy="60350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02A43"/>
                </a:solidFill>
                <a:latin typeface="Cambria Math"/>
              </a:rPr>
              <a:t>p ∨ q ∧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0128" y="2843784"/>
            <a:ext cx="2743200" cy="603504"/>
          </a:xfrm>
          <a:prstGeom prst="rect">
            <a:avLst/>
          </a:prstGeom>
          <a:solidFill>
            <a:srgbClr val="ECF7F2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C8A55"/>
                </a:solidFill>
                <a:latin typeface="Cambria Math"/>
              </a:rPr>
              <a:t>p ∨ (q ∧ 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53328" y="2843784"/>
            <a:ext cx="2743200" cy="603504"/>
          </a:xfrm>
          <a:prstGeom prst="rect">
            <a:avLst/>
          </a:prstGeom>
          <a:solidFill>
            <a:srgbClr val="FDECE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C23B2E"/>
                </a:solidFill>
                <a:latin typeface="Cambria Math"/>
              </a:rPr>
              <a:t>(p ∨ q) ∧ 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96528" y="2843784"/>
            <a:ext cx="2734056" cy="60350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02A43"/>
                </a:solidFill>
                <a:latin typeface="Cambria Math"/>
              </a:rPr>
              <a:t>∧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before 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47288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02A43"/>
                </a:solidFill>
                <a:latin typeface="Cambria Math"/>
              </a:rPr>
              <a:t>p ∧ q ∨ 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10128" y="3447288"/>
            <a:ext cx="2743200" cy="603504"/>
          </a:xfrm>
          <a:prstGeom prst="rect">
            <a:avLst/>
          </a:prstGeom>
          <a:solidFill>
            <a:srgbClr val="ECF7F2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C8A55"/>
                </a:solidFill>
                <a:latin typeface="Cambria Math"/>
              </a:rPr>
              <a:t>(p ∧ q) ∨ 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53328" y="3447288"/>
            <a:ext cx="2743200" cy="603504"/>
          </a:xfrm>
          <a:prstGeom prst="rect">
            <a:avLst/>
          </a:prstGeom>
          <a:solidFill>
            <a:srgbClr val="FDECE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C23B2E"/>
                </a:solidFill>
                <a:latin typeface="Cambria Math"/>
              </a:rPr>
              <a:t>p ∧ (q ∨ 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96528" y="3447288"/>
            <a:ext cx="273405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02A43"/>
                </a:solidFill>
                <a:latin typeface="Cambria Math"/>
              </a:rPr>
              <a:t>∧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before 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050791"/>
            <a:ext cx="2651760" cy="60350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02A43"/>
                </a:solidFill>
                <a:latin typeface="Cambria Math"/>
              </a:rPr>
              <a:t>p → q ∨ 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0128" y="4050791"/>
            <a:ext cx="2743200" cy="603504"/>
          </a:xfrm>
          <a:prstGeom prst="rect">
            <a:avLst/>
          </a:prstGeom>
          <a:solidFill>
            <a:srgbClr val="ECF7F2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C8A55"/>
                </a:solidFill>
                <a:latin typeface="Cambria Math"/>
              </a:rPr>
              <a:t>p → (q ∨ r)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3328" y="4050791"/>
            <a:ext cx="2743200" cy="603504"/>
          </a:xfrm>
          <a:prstGeom prst="rect">
            <a:avLst/>
          </a:prstGeom>
          <a:solidFill>
            <a:srgbClr val="FDECE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C23B2E"/>
                </a:solidFill>
                <a:latin typeface="Cambria Math"/>
              </a:rPr>
              <a:t>(p → q) ∨ 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96528" y="4050791"/>
            <a:ext cx="2734056" cy="603504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02A43"/>
                </a:solidFill>
                <a:latin typeface="Cambria Math"/>
              </a:rPr>
              <a:t>∨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before 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654296"/>
            <a:ext cx="2651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02A43"/>
                </a:solidFill>
                <a:latin typeface="Cambria Math"/>
              </a:rPr>
              <a:t>p ∨ q → 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10128" y="4654296"/>
            <a:ext cx="2743200" cy="603504"/>
          </a:xfrm>
          <a:prstGeom prst="rect">
            <a:avLst/>
          </a:prstGeom>
          <a:solidFill>
            <a:srgbClr val="ECF7F2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1C8A55"/>
                </a:solidFill>
                <a:latin typeface="Cambria Math"/>
              </a:rPr>
              <a:t>(p ∨ q) → 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4654296"/>
            <a:ext cx="2743200" cy="603504"/>
          </a:xfrm>
          <a:prstGeom prst="rect">
            <a:avLst/>
          </a:prstGeom>
          <a:solidFill>
            <a:srgbClr val="FDECE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900" b="1" i="0">
                <a:solidFill>
                  <a:srgbClr val="C23B2E"/>
                </a:solidFill>
                <a:latin typeface="Cambria Math"/>
              </a:rPr>
              <a:t>p ∨ (q → 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96528" y="4654296"/>
            <a:ext cx="2734056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600" b="1" i="0">
                <a:solidFill>
                  <a:srgbClr val="102A43"/>
                </a:solidFill>
                <a:latin typeface="Cambria Math"/>
              </a:rPr>
              <a:t>∨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before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486400"/>
            <a:ext cx="10872216" cy="6858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58368" y="5486400"/>
            <a:ext cx="64008" cy="6858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415016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Method: find the operator with the </a:t>
            </a:r>
            <a:r>
              <a:rPr sz="1550" b="1" i="0">
                <a:solidFill>
                  <a:srgbClr val="1B2D3E"/>
                </a:solidFill>
                <a:latin typeface="Segoe UI"/>
              </a:rPr>
              <a:t>highest precedence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, bracket it, and repeat.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TRUTH TABLES ·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 p ∧ (¬q ∨ 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10872216" cy="60350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64008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1041501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Construct the truth table for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p ∧ (¬q ∨ r)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  3 variables  →  2³ =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8 rows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6858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44168" y="2450592"/>
            <a:ext cx="6858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29967" y="2450592"/>
            <a:ext cx="6858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15768" y="2450592"/>
            <a:ext cx="82296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¬q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38727" y="2450592"/>
            <a:ext cx="11430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¬q ∨ 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1727" y="2450592"/>
            <a:ext cx="1600200" cy="43891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p ∧ (¬q ∨ 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889504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44168" y="2889504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29967" y="2889504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15768" y="2889504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38727" y="2889504"/>
            <a:ext cx="1143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1727" y="2889504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73552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44168" y="3273552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29967" y="3273552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15768" y="3273552"/>
            <a:ext cx="82296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8727" y="3273552"/>
            <a:ext cx="11430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1727" y="3273552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657600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4168" y="3657600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29967" y="3657600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15768" y="3657600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38727" y="3657600"/>
            <a:ext cx="1143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81727" y="3657600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041648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44168" y="4041648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29967" y="4041648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15768" y="4041648"/>
            <a:ext cx="82296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38727" y="4041648"/>
            <a:ext cx="11430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1727" y="4041648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42569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44168" y="442569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29967" y="442569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15768" y="4425696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38727" y="4425696"/>
            <a:ext cx="1143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1727" y="4425696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4809744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44168" y="4809744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29967" y="4809744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15768" y="4809744"/>
            <a:ext cx="82296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38727" y="4809744"/>
            <a:ext cx="11430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81727" y="4809744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5193792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44168" y="5193792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29967" y="5193792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15768" y="5193792"/>
            <a:ext cx="8229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38727" y="5193792"/>
            <a:ext cx="11430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81727" y="5193792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5577840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44168" y="5577840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29967" y="5577840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715768" y="5577840"/>
            <a:ext cx="82296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538727" y="5577840"/>
            <a:ext cx="11430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81727" y="5577840"/>
            <a:ext cx="16002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01968" y="2450592"/>
            <a:ext cx="492861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Build it inside out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601968" y="2871216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04888" y="2834640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¬q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flip the q column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601968" y="3438144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04888" y="3401568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¬q ∨ r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F only if both are F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601968" y="4005072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04888" y="3968496"/>
            <a:ext cx="44256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p ∧ (¬q ∨ r)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T only if both are 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01968" y="4672584"/>
            <a:ext cx="4928616" cy="1271015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01968" y="4672584"/>
            <a:ext cx="64008" cy="1271015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830568" y="4782312"/>
            <a:ext cx="4517136" cy="10881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07B1D"/>
                </a:solidFill>
                <a:latin typeface="Segoe UI"/>
              </a:rPr>
              <a:t>Reading the answer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400" b="0" i="0">
                <a:solidFill>
                  <a:srgbClr val="1B2D3E"/>
                </a:solidFill>
                <a:latin typeface="Segoe UI"/>
              </a:rPr>
              <a:t>True in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3 of 8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rows.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400" b="0" i="0">
                <a:solidFill>
                  <a:srgbClr val="1B2D3E"/>
                </a:solidFill>
                <a:latin typeface="Segoe UI"/>
              </a:rPr>
              <a:t>Whenever p is F the whole thing is F —  </a:t>
            </a:r>
            <a:r>
              <a:rPr sz="1500" b="1" i="0">
                <a:solidFill>
                  <a:srgbClr val="1F6FB2"/>
                </a:solidFill>
                <a:latin typeface="Cambria Math"/>
              </a:rPr>
              <a:t>∧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  needs both sides true.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TRUTH TABLES ·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Truth table of  (p → ¬q) ∧ (p ↔ r)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10872216" cy="603504"/>
          </a:xfrm>
          <a:prstGeom prst="roundRect">
            <a:avLst>
              <a:gd name="adj" fmla="val 6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64208"/>
            <a:ext cx="64008" cy="6035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8"/>
            <a:ext cx="10415016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B2D3E"/>
                </a:solidFill>
                <a:latin typeface="Segoe UI"/>
              </a:rPr>
              <a:t>Construct the truth table for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(p → ¬q) ∧ (p ↔ r)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   3 variables  →  2³ = </a:t>
            </a:r>
            <a:r>
              <a:rPr sz="1600" b="1" i="0">
                <a:solidFill>
                  <a:srgbClr val="1B2D3E"/>
                </a:solidFill>
                <a:latin typeface="Segoe UI"/>
              </a:rPr>
              <a:t>8 rows</a:t>
            </a:r>
            <a:r>
              <a:rPr sz="16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566928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5295" y="2450592"/>
            <a:ext cx="566928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2224" y="2450592"/>
            <a:ext cx="566928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2450592"/>
            <a:ext cx="6858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¬q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44952" y="2450592"/>
            <a:ext cx="96012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p → ¬q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05072" y="2450592"/>
            <a:ext cx="914400" cy="43891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p ↔ 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19472" y="2450592"/>
            <a:ext cx="2057400" cy="438912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 Math"/>
              </a:rPr>
              <a:t>(p → ¬q) ∧ (p ↔ 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889504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25295" y="2889504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92224" y="2889504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59152" y="2889504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44952" y="2889504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05072" y="2889504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889504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273552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25295" y="3273552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2224" y="3273552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59152" y="3273552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44952" y="3273552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3273552"/>
            <a:ext cx="9144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19472" y="3273552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365760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25295" y="365760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92224" y="3657600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59152" y="3657600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44952" y="3657600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05072" y="3657600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19472" y="3657600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041648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5295" y="4041648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92224" y="4041648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59152" y="4041648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44952" y="4041648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05072" y="4041648"/>
            <a:ext cx="9144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19472" y="4041648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4425696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25295" y="4425696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92224" y="4425696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59152" y="4425696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044952" y="4425696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05072" y="4425696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919472" y="4425696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4809744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25295" y="4809744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92224" y="4809744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59152" y="4809744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44952" y="4809744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05072" y="4809744"/>
            <a:ext cx="9144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919472" y="4809744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8" y="519379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25295" y="519379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792224" y="5193792"/>
            <a:ext cx="56692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59152" y="5193792"/>
            <a:ext cx="685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44952" y="5193792"/>
            <a:ext cx="9601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005072" y="5193792"/>
            <a:ext cx="9144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19472" y="5193792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" y="5577840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225295" y="5577840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792224" y="5577840"/>
            <a:ext cx="566928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C23B2E"/>
                </a:solidFill>
                <a:latin typeface="Segoe UI"/>
              </a:rPr>
              <a:t>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59152" y="5577840"/>
            <a:ext cx="6858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44952" y="5577840"/>
            <a:ext cx="96012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05072" y="5577840"/>
            <a:ext cx="914400" cy="384048"/>
          </a:xfrm>
          <a:prstGeom prst="rect">
            <a:avLst/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919472" y="5577840"/>
            <a:ext cx="2057400" cy="384048"/>
          </a:xfrm>
          <a:prstGeom prst="rect">
            <a:avLst/>
          </a:prstGeom>
          <a:solidFill>
            <a:srgbClr val="FDF2E6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45720" bIns="0" rtlCol="0" anchor="ctr"/>
          <a:lstStyle/>
          <a:p>
            <a:pPr algn="ctr"/>
            <a:r>
              <a:rPr sz="1500" b="1" i="0">
                <a:solidFill>
                  <a:srgbClr val="1C8A55"/>
                </a:solidFill>
                <a:latin typeface="Segoe UI"/>
              </a:rPr>
              <a:t>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96912" y="2450592"/>
            <a:ext cx="423367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50" b="1" i="0">
                <a:solidFill>
                  <a:srgbClr val="102A43"/>
                </a:solidFill>
                <a:latin typeface="Segoe UI"/>
              </a:rPr>
              <a:t>Build it inside out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96912" y="2871216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99831" y="2834640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¬q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flip the q column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296912" y="3438144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0E8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99831" y="3401568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p → ¬q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F only when p = T, ¬q = F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96912" y="4005072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6B4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99831" y="3968496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p ↔ r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— T when p and r match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296912" y="4572000"/>
            <a:ext cx="365760" cy="365760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799831" y="4535424"/>
            <a:ext cx="37307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1" i="0">
                <a:solidFill>
                  <a:srgbClr val="1F6FB2"/>
                </a:solidFill>
                <a:latin typeface="Cambria Math"/>
              </a:rPr>
              <a:t>∧</a:t>
            </a:r>
            <a:r>
              <a:rPr sz="1450" b="0" i="0">
                <a:solidFill>
                  <a:srgbClr val="1B2D3E"/>
                </a:solidFill>
                <a:latin typeface="Segoe UI"/>
              </a:rPr>
              <a:t> of the two — T only if both 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96912" y="5239512"/>
            <a:ext cx="4233672" cy="704087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296912" y="5239512"/>
            <a:ext cx="64008" cy="704087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525512" y="5349240"/>
            <a:ext cx="3822191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400" b="1" i="0">
                <a:solidFill>
                  <a:srgbClr val="F07B1D"/>
                </a:solidFill>
                <a:latin typeface="Segoe UI"/>
              </a:rPr>
              <a:t>Reading the answer</a:t>
            </a:r>
          </a:p>
          <a:p>
            <a:pPr algn="l">
              <a:lnSpc>
                <a:spcPct val="95000"/>
              </a:lnSpc>
              <a:spcBef>
                <a:spcPts val="400"/>
              </a:spcBef>
            </a:pPr>
            <a:r>
              <a:rPr sz="1400" b="0" i="0">
                <a:solidFill>
                  <a:srgbClr val="1B2D3E"/>
                </a:solidFill>
                <a:latin typeface="Segoe UI"/>
              </a:rPr>
              <a:t>True in </a:t>
            </a:r>
            <a:r>
              <a:rPr sz="1400" b="1" i="0">
                <a:solidFill>
                  <a:srgbClr val="1B2D3E"/>
                </a:solidFill>
                <a:latin typeface="Segoe UI"/>
              </a:rPr>
              <a:t>3 rows</a:t>
            </a:r>
            <a:r>
              <a:rPr sz="1400" b="0" i="0">
                <a:solidFill>
                  <a:srgbClr val="1B2D3E"/>
                </a:solidFill>
                <a:latin typeface="Segoe UI"/>
              </a:rPr>
              <a:t>:  (T,F,T),  (F,T,F),  (F,F,F).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TAKE-HOME PRACTICE · EXAM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71323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911178"/>
            <a:ext cx="10140696" cy="21929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 dirty="0">
                <a:solidFill>
                  <a:srgbClr val="FFFFFF"/>
                </a:solidFill>
                <a:latin typeface="Segoe UI"/>
              </a:rPr>
              <a:t>Use everything from today: the four conditionals, the biconditional, the precedence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560320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41248" y="2706624"/>
            <a:ext cx="566928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560320"/>
            <a:ext cx="977493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Construct the truth table for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(p ∨ ¬q) → (p ∧ q)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46703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3493008"/>
            <a:ext cx="566928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ii.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46703"/>
            <a:ext cx="977493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Construct the truth table for  </a:t>
            </a:r>
            <a:r>
              <a:rPr sz="1650" b="1" i="0">
                <a:solidFill>
                  <a:srgbClr val="1F6FB2"/>
                </a:solidFill>
                <a:latin typeface="Cambria Math"/>
              </a:rPr>
              <a:t>(p ↔ q) ∨ ¬r</a:t>
            </a:r>
            <a:r>
              <a:rPr sz="155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133087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4279392"/>
            <a:ext cx="566928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iii.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133087"/>
            <a:ext cx="977493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Determine the converse, contrapositive and inverse of:  “Unless you attend the lecture, you will miss important explanations.”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919472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" y="5065776"/>
            <a:ext cx="566928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iv.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919472"/>
            <a:ext cx="9774936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50" b="0" i="0">
                <a:solidFill>
                  <a:srgbClr val="1B2D3E"/>
                </a:solidFill>
                <a:latin typeface="Segoe UI"/>
              </a:rPr>
              <a:t>Write the converse, inverse and contrapositive of:  “A student can receive a scholarship only if the student maintains a minimum CGPA of 3.50.”  Which one is equivalent to it?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0720"/>
            <a:ext cx="10872216" cy="457200"/>
          </a:xfrm>
          <a:prstGeom prst="roundRect">
            <a:avLst>
              <a:gd name="adj" fmla="val 6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5760720"/>
            <a:ext cx="64008" cy="4572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760720"/>
            <a:ext cx="1041501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0" i="0">
                <a:solidFill>
                  <a:srgbClr val="1B2D3E"/>
                </a:solidFill>
                <a:latin typeface="Segoe UI"/>
              </a:rPr>
              <a:t>Tip: rewrite as “if … then” first.  “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Unless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p, q”  means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¬p →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;   “p </a:t>
            </a:r>
            <a:r>
              <a:rPr sz="1500" b="1" i="0">
                <a:solidFill>
                  <a:srgbClr val="1B2D3E"/>
                </a:solidFill>
                <a:latin typeface="Segoe UI"/>
              </a:rPr>
              <a:t>only if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 q”  means  </a:t>
            </a:r>
            <a:r>
              <a:rPr sz="16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500" b="0" i="0">
                <a:solidFill>
                  <a:srgbClr val="1B2D3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PROBLEM 1 OF 2 ·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Express in symbols using  p, q, 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get an A on the final exam.      </a:t>
            </a:r>
            <a:r>
              <a:rPr sz="15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do every exercise in this book.      </a:t>
            </a:r>
            <a:r>
              <a:rPr sz="1500" b="1" i="0">
                <a:solidFill>
                  <a:srgbClr val="9CC7F0"/>
                </a:solidFill>
                <a:latin typeface="Cambria Math"/>
              </a:rPr>
              <a:t>r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get an A in this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77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377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KEY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377440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IN SYMBOLS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24912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2926080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724912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You get an A in this class, but you do not do every exercise in this book.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907792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907792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“but” → 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724912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r ∧ ¬q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" y="3822191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21024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You get an A on the final, you do every exercise in this book, and you get an A in this class.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803904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380390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“and” → 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621024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p ∧ q ∧ 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17136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4718303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17136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To get an A in this class, it is necessary for you to get an A on the final.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4700016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470001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“necessary” → 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517136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r → 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PROBLEM 2 OF 2 ·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Express in symbols using  p, q, 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10872216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664208"/>
            <a:ext cx="1014069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9CC7F0"/>
                </a:solidFill>
                <a:latin typeface="Cambria Math"/>
              </a:rPr>
              <a:t>p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get an A on the final exam.      </a:t>
            </a:r>
            <a:r>
              <a:rPr sz="1500" b="1" i="0">
                <a:solidFill>
                  <a:srgbClr val="9CC7F0"/>
                </a:solidFill>
                <a:latin typeface="Cambria Math"/>
              </a:rPr>
              <a:t>q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do every exercise in this book.      </a:t>
            </a:r>
            <a:r>
              <a:rPr sz="1500" b="1" i="0">
                <a:solidFill>
                  <a:srgbClr val="9CC7F0"/>
                </a:solidFill>
                <a:latin typeface="Cambria Math"/>
              </a:rPr>
              <a:t>r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 :  You get an A in this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377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37744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KEY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2377440"/>
            <a:ext cx="19751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IN SYMBOLS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24912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2926080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724912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You get an A on the final, but you don’t do every exercise in this book; nevertheless, you get an A in this class.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2907792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2907792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“but”, “nevertheless” → 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724912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p ∧ ¬q ∧ 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621024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1248" y="3822191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21024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Getting an A on the final and doing every exercise in this book is sufficient for getting an A in this class.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803904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3803904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“sufficient” → left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3621024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(p ∧ q) → 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517136"/>
            <a:ext cx="10872216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4718303"/>
            <a:ext cx="457200" cy="402336"/>
          </a:xfrm>
          <a:prstGeom prst="roundRect">
            <a:avLst>
              <a:gd name="adj" fmla="val 18000"/>
            </a:avLst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 i="0">
                <a:solidFill>
                  <a:srgbClr val="102A43"/>
                </a:solidFill>
                <a:latin typeface="Segoe UI"/>
              </a:rPr>
              <a:t>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17136"/>
            <a:ext cx="56692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1450" b="0" i="0">
                <a:solidFill>
                  <a:srgbClr val="1B2D3E"/>
                </a:solidFill>
                <a:latin typeface="Segoe UI"/>
              </a:rPr>
              <a:t>You will get an A in this class if and only if you either do every exercise in this book or you get an A on the final.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4700016"/>
            <a:ext cx="2011680" cy="438912"/>
          </a:xfrm>
          <a:prstGeom prst="roundRect">
            <a:avLst>
              <a:gd name="adj" fmla="val 20000"/>
            </a:avLst>
          </a:prstGeom>
          <a:solidFill>
            <a:srgbClr val="FD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4700016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07B1D"/>
                </a:solidFill>
                <a:latin typeface="Segoe UI"/>
              </a:rPr>
              <a:t>“if and only if” → 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4517136"/>
            <a:ext cx="19202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</a:pPr>
            <a:r>
              <a:rPr sz="2100" b="1" i="0">
                <a:solidFill>
                  <a:srgbClr val="1F6FB2"/>
                </a:solidFill>
                <a:latin typeface="Cambria Math"/>
              </a:rPr>
              <a:t>r ↔ (q ∨ p)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02336"/>
            <a:ext cx="1087221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F07B1D"/>
                </a:solidFill>
                <a:latin typeface="Segoe UI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2216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 i="0">
                <a:solidFill>
                  <a:srgbClr val="102A43"/>
                </a:solidFill>
                <a:latin typeface="Segoe UI"/>
              </a:rPr>
              <a:t>What you should walk out with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16736"/>
            <a:ext cx="841248" cy="41148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499616" y="1329537"/>
            <a:ext cx="10033711" cy="14630"/>
          </a:xfrm>
          <a:prstGeom prst="rect">
            <a:avLst/>
          </a:prstGeom>
          <a:solidFill>
            <a:srgbClr val="D7E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382512"/>
            <a:ext cx="7616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0" i="0">
                <a:solidFill>
                  <a:srgbClr val="5F7388"/>
                </a:solidFill>
                <a:latin typeface="Segoe UI"/>
              </a:rPr>
              <a:t>Masnoon Muztahid  ·  Lecturer, Dept. of CSE, UIU  ·  CSE 2213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3304" y="638251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sz="1050" b="1" i="0">
                <a:solidFill>
                  <a:srgbClr val="5F7388"/>
                </a:solidFill>
                <a:latin typeface="Segoe U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1837944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46504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p → q</a:t>
            </a:r>
            <a:r>
              <a:rPr sz="1600" b="0" i="0">
                <a:solidFill>
                  <a:srgbClr val="102A43"/>
                </a:solidFill>
                <a:latin typeface="Segoe UI"/>
              </a:rPr>
              <a:t>  ≡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¬q → ¬p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1250" b="0" i="0">
                <a:solidFill>
                  <a:srgbClr val="5F7388"/>
                </a:solidFill>
                <a:latin typeface="Segoe UI"/>
              </a:rPr>
              <a:t>a conditional and its contrapositive always agree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478024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1248" y="2624328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32888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q → p</a:t>
            </a:r>
            <a:r>
              <a:rPr sz="1600" b="0" i="0">
                <a:solidFill>
                  <a:srgbClr val="102A43"/>
                </a:solidFill>
                <a:latin typeface="Segoe UI"/>
              </a:rPr>
              <a:t>  ≡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¬p → ¬q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1250" b="0" i="0">
                <a:solidFill>
                  <a:srgbClr val="5F7388"/>
                </a:solidFill>
                <a:latin typeface="Segoe UI"/>
              </a:rPr>
              <a:t>converse and inverse agree with each other — not with the original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64408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1248" y="3410712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319272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700" b="1" i="0">
                <a:solidFill>
                  <a:srgbClr val="1F6FB2"/>
                </a:solidFill>
                <a:latin typeface="Cambria Math"/>
              </a:rPr>
              <a:t>p ↔ q</a:t>
            </a:r>
            <a:r>
              <a:rPr sz="1600" b="0" i="0">
                <a:solidFill>
                  <a:srgbClr val="102A43"/>
                </a:solidFill>
                <a:latin typeface="Segoe UI"/>
              </a:rPr>
              <a:t>  is true when p and q have the </a:t>
            </a:r>
            <a:r>
              <a:rPr sz="1600" b="1" i="0">
                <a:solidFill>
                  <a:srgbClr val="102A43"/>
                </a:solidFill>
                <a:latin typeface="Segoe UI"/>
              </a:rPr>
              <a:t>same</a:t>
            </a:r>
            <a:r>
              <a:rPr sz="1600" b="0" i="0">
                <a:solidFill>
                  <a:srgbClr val="102A43"/>
                </a:solidFill>
                <a:latin typeface="Segoe UI"/>
              </a:rPr>
              <a:t> truth value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1250" b="0" i="0">
                <a:solidFill>
                  <a:srgbClr val="5F7388"/>
                </a:solidFill>
                <a:latin typeface="Segoe UI"/>
              </a:rPr>
              <a:t>it equals  (p → q) ∧ (q → p)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50791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3F7FA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41248" y="4197096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105655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02A43"/>
                </a:solidFill>
                <a:latin typeface="Segoe UI"/>
              </a:rPr>
              <a:t>Precedence:  </a:t>
            </a:r>
            <a:r>
              <a:rPr sz="1700" b="1" i="0">
                <a:solidFill>
                  <a:srgbClr val="1F6FB2"/>
                </a:solidFill>
                <a:latin typeface="Cambria Math"/>
              </a:rPr>
              <a:t>¬ , ∧ , ∨ , → , ↔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1250" b="0" i="0">
                <a:solidFill>
                  <a:srgbClr val="5F7388"/>
                </a:solidFill>
                <a:latin typeface="Segoe UI"/>
              </a:rPr>
              <a:t>first to last — add parentheses when in doubt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4837176"/>
            <a:ext cx="1087221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7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1248" y="4983480"/>
            <a:ext cx="402336" cy="402336"/>
          </a:xfrm>
          <a:prstGeom prst="roundRect">
            <a:avLst>
              <a:gd name="adj" fmla="val 18000"/>
            </a:avLst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92040"/>
            <a:ext cx="98755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600" b="0" i="0">
                <a:solidFill>
                  <a:srgbClr val="102A43"/>
                </a:solidFill>
                <a:latin typeface="Segoe UI"/>
              </a:rPr>
              <a:t>n variables  →  2ⁿ rows,  one column per sub-expression</a:t>
            </a:r>
          </a:p>
          <a:p>
            <a:pPr algn="l">
              <a:lnSpc>
                <a:spcPct val="95000"/>
              </a:lnSpc>
              <a:spcBef>
                <a:spcPts val="100"/>
              </a:spcBef>
            </a:pPr>
            <a:r>
              <a:rPr sz="1250" b="0" i="0">
                <a:solidFill>
                  <a:srgbClr val="5F7388"/>
                </a:solidFill>
                <a:latin typeface="Segoe UI"/>
              </a:rPr>
              <a:t>build inside out; the last column is the answer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25535" y="-1371600"/>
            <a:ext cx="4937760" cy="4937760"/>
          </a:xfrm>
          <a:prstGeom prst="ellipse">
            <a:avLst/>
          </a:prstGeom>
          <a:solidFill>
            <a:srgbClr val="173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362895" y="4206240"/>
            <a:ext cx="2926080" cy="2926080"/>
          </a:xfrm>
          <a:prstGeom prst="ellipse">
            <a:avLst/>
          </a:prstGeom>
          <a:solidFill>
            <a:srgbClr val="153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32688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Thank you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FD4E6"/>
                </a:solidFill>
                <a:latin typeface="Segoe UI"/>
              </a:rPr>
              <a:t>Questions are always welcome — now, after class, or by email.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977639"/>
            <a:ext cx="1280160" cy="45720"/>
          </a:xfrm>
          <a:prstGeom prst="rect">
            <a:avLst/>
          </a:prstGeom>
          <a:solidFill>
            <a:srgbClr val="F07B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73152" rIns="146304" bIns="73152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3040</Words>
  <Application>Microsoft Office PowerPoint</Application>
  <PresentationFormat>Widescreen</PresentationFormat>
  <Paragraphs>544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2005067 - Masnoon Muztahid</cp:lastModifiedBy>
  <cp:revision>10</cp:revision>
  <dcterms:created xsi:type="dcterms:W3CDTF">2013-01-27T09:14:16Z</dcterms:created>
  <dcterms:modified xsi:type="dcterms:W3CDTF">2026-10-30T17:04:28Z</dcterms:modified>
  <cp:category/>
</cp:coreProperties>
</file>