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6" r:id="rId37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36" autoAdjust="0"/>
  </p:normalViewPr>
  <p:slideViewPr>
    <p:cSldViewPr snapToGrid="0" snapToObjects="1">
      <p:cViewPr varScale="1">
        <p:scale>
          <a:sx n="78" d="100"/>
          <a:sy n="78" d="100"/>
        </p:scale>
        <p:origin x="7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E1C7F-8531-4500-8F91-F3FAB5C6CE1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A739B-3D4C-4FDB-933A-DB657C44A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Answers: i) p ∧ (¬r → ¬q)   ii) ¬p → ¬r   iii) q → (p ∧ r)   iv) p ⊕ r. Do not give these away — ask for them at the start of the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25535" y="-1371600"/>
            <a:ext cx="4937760" cy="4937760"/>
          </a:xfrm>
          <a:prstGeom prst="ellipse">
            <a:avLst/>
          </a:prstGeom>
          <a:solidFill>
            <a:srgbClr val="173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51560" y="658368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7772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14884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7B1D"/>
                </a:solidFill>
                <a:latin typeface="Segoe UI"/>
              </a:rPr>
              <a:t>CSE 2213  ·  DISCRETE MATHEMATICS  ·  LECTURE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Propositional Logic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FD4E6"/>
                </a:solidFill>
                <a:latin typeface="Segoe UI"/>
              </a:rPr>
              <a:t>Rosen, 8th edition  ·  Section 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709160"/>
            <a:ext cx="1280160" cy="457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98348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Masnoon Muztahid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Lecturer, Department of CSE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United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Today we teach a machine to reason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5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82495"/>
            <a:ext cx="64008" cy="71323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82495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A computer cannot understand </a:t>
            </a:r>
            <a:r>
              <a:rPr sz="1600" b="0" i="1">
                <a:solidFill>
                  <a:srgbClr val="1B2D3E"/>
                </a:solidFill>
                <a:latin typeface="Segoe UI"/>
              </a:rPr>
              <a:t>maybe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 Before it can decide anything, we must write our sentences so that each one is either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true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or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false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— nothing else.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2444419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2444419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6968" y="29443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93008"/>
            <a:ext cx="198721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102A43"/>
                </a:solidFill>
                <a:latin typeface="Segoe UI"/>
              </a:rPr>
              <a:t>Proposition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a sentence that is true or false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6795" y="3401568"/>
            <a:ext cx="237744" cy="0"/>
          </a:xfrm>
          <a:prstGeom prst="line">
            <a:avLst/>
          </a:prstGeom>
          <a:ln w="25400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68547" y="2715768"/>
            <a:ext cx="2444419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68547" y="2715768"/>
            <a:ext cx="2444419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97147" y="29443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7147" y="3493008"/>
            <a:ext cx="198721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102A43"/>
                </a:solidFill>
                <a:latin typeface="Segoe UI"/>
              </a:rPr>
              <a:t>Symbols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replace the sentence by a letter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76975" y="3401568"/>
            <a:ext cx="237744" cy="0"/>
          </a:xfrm>
          <a:prstGeom prst="line">
            <a:avLst/>
          </a:prstGeom>
          <a:ln w="25400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78727" y="2715768"/>
            <a:ext cx="2444419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8727" y="2715768"/>
            <a:ext cx="2444419" cy="64008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07327" y="29443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7327" y="3493008"/>
            <a:ext cx="198721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102A43"/>
                </a:solidFill>
                <a:latin typeface="Segoe UI"/>
              </a:rPr>
              <a:t>Connectives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five symbols:  ¬ ,  ∧ ,  ∨ ,  ⊕ ,  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87155" y="3401568"/>
            <a:ext cx="237744" cy="0"/>
          </a:xfrm>
          <a:prstGeom prst="line">
            <a:avLst/>
          </a:prstGeom>
          <a:ln w="25400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88907" y="2715768"/>
            <a:ext cx="2444419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88907" y="2715768"/>
            <a:ext cx="2444419" cy="6400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17507" y="29443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507" y="3493008"/>
            <a:ext cx="1987219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102A43"/>
                </a:solidFill>
                <a:latin typeface="Segoe UI"/>
              </a:rPr>
              <a:t>Translation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English  →  logic, and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700016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Why bother?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138927"/>
            <a:ext cx="10874959" cy="10789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550" b="0" i="0">
                <a:solidFill>
                  <a:srgbClr val="1B2D3E"/>
                </a:solidFill>
                <a:latin typeface="Segoe UI"/>
              </a:rPr>
              <a:t>Every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if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statement you will ever write is a piece of propositional logic</a:t>
            </a:r>
          </a:p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550" b="0" i="0">
                <a:solidFill>
                  <a:srgbClr val="1B2D3E"/>
                </a:solidFill>
                <a:latin typeface="Segoe UI"/>
              </a:rPr>
              <a:t>Every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circuit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inside a processor is a logical expression made of gates</a:t>
            </a:r>
          </a:p>
          <a:p>
            <a:pPr marL="237744" indent="-237744"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  <a:buClr>
                <a:srgbClr val="F07B1D"/>
              </a:buClr>
              <a:buSzPct val="80000"/>
              <a:buFont typeface="Arial"/>
              <a:buChar char="▪"/>
            </a:pPr>
            <a:r>
              <a:rPr sz="1550" b="0" i="0">
                <a:solidFill>
                  <a:srgbClr val="1B2D3E"/>
                </a:solidFill>
                <a:latin typeface="Segoe UI"/>
              </a:rPr>
              <a:t>Every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proof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you write this trimester starts from these five symbols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What is a proposition?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77724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77724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10417759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 i="0">
                <a:solidFill>
                  <a:srgbClr val="1B2D3E"/>
                </a:solidFill>
                <a:latin typeface="Segoe UI"/>
              </a:rPr>
              <a:t>A </a:t>
            </a:r>
            <a:r>
              <a:rPr sz="1800" b="1" i="0">
                <a:solidFill>
                  <a:srgbClr val="1B2D3E"/>
                </a:solidFill>
                <a:latin typeface="Segoe UI"/>
              </a:rPr>
              <a:t>proposition</a:t>
            </a:r>
            <a:r>
              <a:rPr sz="1800" b="0" i="0">
                <a:solidFill>
                  <a:srgbClr val="1B2D3E"/>
                </a:solidFill>
                <a:latin typeface="Segoe UI"/>
              </a:rPr>
              <a:t> is a </a:t>
            </a:r>
            <a:r>
              <a:rPr sz="1800" b="1" i="0">
                <a:solidFill>
                  <a:srgbClr val="1B2D3E"/>
                </a:solidFill>
                <a:latin typeface="Segoe UI"/>
              </a:rPr>
              <a:t>declarative sentence</a:t>
            </a:r>
            <a:r>
              <a:rPr sz="1800" b="0" i="0">
                <a:solidFill>
                  <a:srgbClr val="1B2D3E"/>
                </a:solidFill>
                <a:latin typeface="Segoe UI"/>
              </a:rPr>
              <a:t> that is either </a:t>
            </a:r>
            <a:r>
              <a:rPr sz="1800" b="1" i="0">
                <a:solidFill>
                  <a:srgbClr val="1B2D3E"/>
                </a:solidFill>
                <a:latin typeface="Segoe UI"/>
              </a:rPr>
              <a:t>true</a:t>
            </a:r>
            <a:r>
              <a:rPr sz="1800" b="0" i="0">
                <a:solidFill>
                  <a:srgbClr val="1B2D3E"/>
                </a:solidFill>
                <a:latin typeface="Segoe UI"/>
              </a:rPr>
              <a:t> or </a:t>
            </a:r>
            <a:r>
              <a:rPr sz="1800" b="1" i="0">
                <a:solidFill>
                  <a:srgbClr val="1B2D3E"/>
                </a:solidFill>
                <a:latin typeface="Segoe UI"/>
              </a:rPr>
              <a:t>false</a:t>
            </a:r>
            <a:r>
              <a:rPr sz="1800" b="0" i="0">
                <a:solidFill>
                  <a:srgbClr val="1B2D3E"/>
                </a:solidFill>
                <a:latin typeface="Segoe UI"/>
              </a:rPr>
              <a:t>, but not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2432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It must pass three tests: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35808"/>
            <a:ext cx="3381146" cy="9144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286908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It declares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it states a fact, it does not ask or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5274" y="3035808"/>
            <a:ext cx="3381146" cy="9144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1306" y="3200400"/>
            <a:ext cx="286908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It can be judged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we can call it true or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2180" y="3035808"/>
            <a:ext cx="3381146" cy="9144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8212" y="3200400"/>
            <a:ext cx="286908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Exactly one value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never both, never neither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33087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These are propositions: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44568"/>
            <a:ext cx="523173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544568"/>
            <a:ext cx="399729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Dhaka is the capital of Bangladesh.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38547" y="4663440"/>
            <a:ext cx="868680" cy="310896"/>
          </a:xfrm>
          <a:prstGeom prst="roundRect">
            <a:avLst>
              <a:gd name="adj" fmla="val 22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1587" y="4544568"/>
            <a:ext cx="523173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0187" y="4544568"/>
            <a:ext cx="399729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2 + 2 =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81767" y="4663440"/>
            <a:ext cx="868680" cy="310896"/>
          </a:xfrm>
          <a:prstGeom prst="roundRect">
            <a:avLst>
              <a:gd name="adj" fmla="val 22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02936"/>
            <a:ext cx="523173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" y="5202936"/>
            <a:ext cx="399729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 sun rises in the west.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38547" y="5321807"/>
            <a:ext cx="868680" cy="310896"/>
          </a:xfrm>
          <a:prstGeom prst="roundRect">
            <a:avLst>
              <a:gd name="adj" fmla="val 2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3B2E"/>
                </a:solidFill>
                <a:latin typeface="Segoe UI"/>
              </a:rPr>
              <a:t>FALSE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1587" y="5202936"/>
            <a:ext cx="5231739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0187" y="5202936"/>
            <a:ext cx="3997299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Every even number is divisible by 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1767" y="5321807"/>
            <a:ext cx="868680" cy="310896"/>
          </a:xfrm>
          <a:prstGeom prst="roundRect">
            <a:avLst>
              <a:gd name="adj" fmla="val 2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3B2E"/>
                </a:solidFill>
                <a:latin typeface="Segoe UI"/>
              </a:rPr>
              <a:t>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7044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The value  T  or  F  of a proposition is called its truth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THE OTHER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What is NOT a proposition?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874519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755648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“What time is the class?”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7" y="1755648"/>
            <a:ext cx="502279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A question — it declares nothing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9536" y="2606039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487168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“Close the door.”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487168"/>
            <a:ext cx="502279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An order — nothing to judge true or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18688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9536" y="333756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218688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“Please help me.”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7" y="3218688"/>
            <a:ext cx="502279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A request — same problem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50208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6" y="406908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3950208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“x + 1 = 5”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3950208"/>
            <a:ext cx="502279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We cannot decide without knowing 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81728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9536" y="480060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681728"/>
            <a:ext cx="45720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“This sentence is false.”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4681728"/>
            <a:ext cx="502279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Both true and false at once — see next slide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040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550408"/>
            <a:ext cx="64008" cy="6400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550408"/>
            <a:ext cx="104177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Notice: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x + 1 = 5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becomes a proposition the moment we fix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x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 That idea grows into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predicates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in class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A FAMOUS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The sentence that breaks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01367"/>
            <a:ext cx="6126480" cy="86868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801367"/>
            <a:ext cx="576072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“ I am lying. 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5163159" cy="16002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7" y="3264408"/>
            <a:ext cx="452307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0E8F7E"/>
                </a:solidFill>
                <a:latin typeface="Segoe UI"/>
              </a:rPr>
              <a:t>Suppose it is TRUE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Then I really am lying.
But then the sentence I said is a lie — so it is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false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0167" y="3035808"/>
            <a:ext cx="5163159" cy="16002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0207" y="3264408"/>
            <a:ext cx="452307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C23B2E"/>
                </a:solidFill>
                <a:latin typeface="Segoe UI"/>
              </a:rPr>
              <a:t>Suppose it is FALSE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Then I am not lying.
So what I said is the truth — so it is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true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6119" y="3584448"/>
            <a:ext cx="292608" cy="0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986119" y="4087368"/>
            <a:ext cx="292608" cy="0"/>
          </a:xfrm>
          <a:prstGeom prst="line">
            <a:avLst/>
          </a:prstGeom>
          <a:ln w="19050">
            <a:solidFill>
              <a:srgbClr val="5F73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8368" y="4956048"/>
            <a:ext cx="10874959" cy="77724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4956048"/>
            <a:ext cx="64008" cy="77724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10417759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Every assumption flips into its opposite. It can be neither true nor false — so it is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not a proposition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This is the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Liar Paradox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and the same idea sits behind Gödel's theorems and the halting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YOUR TURN · 2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Quick check — proposition or not?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520887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1993392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847088"/>
            <a:ext cx="4065879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The year 2026 has 365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847088"/>
            <a:ext cx="520887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07327" y="1993392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8847" y="1847088"/>
            <a:ext cx="4065879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Where is room 419?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70048"/>
            <a:ext cx="520887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7" y="2816352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670048"/>
            <a:ext cx="4065879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3 × 7 = 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4447" y="2670048"/>
            <a:ext cx="520887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07327" y="2816352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8847" y="2670048"/>
            <a:ext cx="4065879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Submit your assignment by Sunday.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493008"/>
            <a:ext cx="520887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7" y="3639312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493008"/>
            <a:ext cx="4065879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n is an odd number.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3493008"/>
            <a:ext cx="5208879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507327" y="3639312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f)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847" y="3493008"/>
            <a:ext cx="4065879" cy="6949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Bangladesh won the 2011 Cricket World Cup.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61688"/>
            <a:ext cx="10874959" cy="68580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4361688"/>
            <a:ext cx="64008" cy="6858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361688"/>
            <a:ext cx="10417759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1B2D3E"/>
                </a:solidFill>
                <a:latin typeface="Segoe UI"/>
              </a:rPr>
              <a:t>Ask yourself only one question: 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can I, in principle, label this sentence true or false?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Not “do I know the answer” — just “does an answer exist?”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7608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dirty="0">
                <a:solidFill>
                  <a:srgbClr val="102A43"/>
                </a:solidFill>
                <a:latin typeface="Segoe UI"/>
              </a:rPr>
              <a:t>Answers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>
                <a:solidFill>
                  <a:srgbClr val="5F7388"/>
                </a:solidFill>
                <a:latin typeface="Segoe UI"/>
              </a:rPr>
              <a:t>(a) proposition — 2026 is a common year, so it is true.   (b) not — a question.   (c) proposition, false.   (d) not — an order.   (e) not — depends on n.   (f) proposition, </a:t>
            </a:r>
            <a:r>
              <a:rPr lang="en-US" sz="1350" dirty="0">
                <a:solidFill>
                  <a:srgbClr val="5F7388"/>
                </a:solidFill>
                <a:latin typeface="Segoe UI"/>
              </a:rPr>
              <a:t>false</a:t>
            </a:r>
            <a:r>
              <a:rPr sz="1350" b="0" i="0" dirty="0">
                <a:solidFill>
                  <a:srgbClr val="5F738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From sentences to symbols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7"/>
            <a:ext cx="1087495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Writing the whole sentence every time is painful. So we name it with a letter.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66543"/>
            <a:ext cx="10874959" cy="98755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194560"/>
            <a:ext cx="10143439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:  Dhaka is the capital of Bangladesh.        </a:t>
            </a:r>
            <a:r>
              <a:rPr sz="17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:  2 + 2 = 5.        </a:t>
            </a:r>
            <a:r>
              <a:rPr sz="1700" b="1">
                <a:solidFill>
                  <a:srgbClr val="1F6FB2"/>
                </a:solidFill>
                <a:latin typeface="Cambria Math"/>
              </a:rPr>
              <a:t>r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:  It is raining.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7388"/>
                </a:solidFill>
                <a:latin typeface="Segoe UI"/>
              </a:rPr>
              <a:t>We call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,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,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r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,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s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 …  </a:t>
            </a:r>
            <a:r>
              <a:rPr sz="1500" b="1" i="0">
                <a:solidFill>
                  <a:srgbClr val="5F7388"/>
                </a:solidFill>
                <a:latin typeface="Segoe UI"/>
              </a:rPr>
              <a:t>propositional variables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.  Each one carries a </a:t>
            </a:r>
            <a:r>
              <a:rPr sz="1500" b="1" i="0">
                <a:solidFill>
                  <a:srgbClr val="5F7388"/>
                </a:solidFill>
                <a:latin typeface="Segoe UI"/>
              </a:rPr>
              <a:t>truth value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: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 = </a:t>
            </a:r>
            <a:r>
              <a:rPr sz="1500" b="1">
                <a:solidFill>
                  <a:srgbClr val="1C8A55"/>
                </a:solidFill>
                <a:latin typeface="Segoe UI"/>
              </a:rPr>
              <a:t>T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 ,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 = </a:t>
            </a:r>
            <a:r>
              <a:rPr sz="1500" b="1">
                <a:solidFill>
                  <a:srgbClr val="C23B2E"/>
                </a:solidFill>
                <a:latin typeface="Segoe UI"/>
              </a:rPr>
              <a:t>F</a:t>
            </a:r>
            <a:r>
              <a:rPr sz="1500" b="0" i="0">
                <a:solidFill>
                  <a:srgbClr val="5F7388"/>
                </a:solidFill>
                <a:latin typeface="Segoe U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5186019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5186019" cy="64008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3346704"/>
            <a:ext cx="4545939" cy="23042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Atomic proposition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A proposition that does not contain any logical connective combining it with other propositions.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“I live in Dhaka.”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“The server is down.”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“7 is a prime number.”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7" y="3108960"/>
            <a:ext cx="5186019" cy="2615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47307" y="3108960"/>
            <a:ext cx="5186019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7347" y="3346704"/>
            <a:ext cx="4545939" cy="23042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Compound proposition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A proposition formed by applying one or more logical connectives to one or more propositions.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B2D3E"/>
                </a:solidFill>
                <a:latin typeface="Segoe UI"/>
              </a:rPr>
              <a:t>Arif plays football, badminton </a:t>
            </a:r>
            <a:r>
              <a:rPr sz="125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250" b="0" i="0">
                <a:solidFill>
                  <a:srgbClr val="1B2D3E"/>
                </a:solidFill>
                <a:latin typeface="Segoe UI"/>
              </a:rPr>
              <a:t> table tennis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B2D3E"/>
                </a:solidFill>
                <a:latin typeface="Segoe UI"/>
              </a:rPr>
              <a:t>Jonathon doesn’t play cricket, </a:t>
            </a:r>
            <a:r>
              <a:rPr sz="125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250" b="0" i="0">
                <a:solidFill>
                  <a:srgbClr val="1B2D3E"/>
                </a:solidFill>
                <a:latin typeface="Segoe UI"/>
              </a:rPr>
              <a:t> plays football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B2D3E"/>
                </a:solidFill>
                <a:latin typeface="Segoe UI"/>
              </a:rPr>
              <a:t>Eliza likes programming </a:t>
            </a:r>
            <a:r>
              <a:rPr sz="125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250" b="0" i="0">
                <a:solidFill>
                  <a:srgbClr val="1B2D3E"/>
                </a:solidFill>
                <a:latin typeface="Segoe UI"/>
              </a:rPr>
              <a:t> mathematics, </a:t>
            </a:r>
            <a:r>
              <a:rPr sz="1250" b="1" i="0">
                <a:solidFill>
                  <a:srgbClr val="1B2D3E"/>
                </a:solidFill>
                <a:latin typeface="Segoe UI"/>
              </a:rPr>
              <a:t>and not</a:t>
            </a:r>
            <a:r>
              <a:rPr sz="1250" b="0" i="0">
                <a:solidFill>
                  <a:srgbClr val="1B2D3E"/>
                </a:solidFill>
                <a:latin typeface="Segoe UI"/>
              </a:rPr>
              <a:t> physics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B2D3E"/>
                </a:solidFill>
                <a:latin typeface="Segoe UI"/>
              </a:rPr>
              <a:t>Rachel went to the park, the zoo </a:t>
            </a:r>
            <a:r>
              <a:rPr sz="1250" b="1" i="0">
                <a:solidFill>
                  <a:srgbClr val="1B2D3E"/>
                </a:solidFill>
                <a:latin typeface="Segoe UI"/>
              </a:rPr>
              <a:t>or</a:t>
            </a:r>
            <a:r>
              <a:rPr sz="1250" b="0" i="0">
                <a:solidFill>
                  <a:srgbClr val="1B2D3E"/>
                </a:solidFill>
                <a:latin typeface="Segoe UI"/>
              </a:rPr>
              <a:t> the movie theatre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B2D3E"/>
                </a:solidFill>
                <a:latin typeface="Segoe UI"/>
              </a:rPr>
              <a:t>It is raining </a:t>
            </a:r>
            <a:r>
              <a:rPr sz="1250" b="1" i="0">
                <a:solidFill>
                  <a:srgbClr val="1B2D3E"/>
                </a:solidFill>
                <a:latin typeface="Segoe UI"/>
              </a:rPr>
              <a:t>or</a:t>
            </a:r>
            <a:r>
              <a:rPr sz="1250" b="0" i="0">
                <a:solidFill>
                  <a:srgbClr val="1B2D3E"/>
                </a:solidFill>
                <a:latin typeface="Segoe UI"/>
              </a:rPr>
              <a:t> snowing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833872"/>
            <a:ext cx="10874959" cy="475488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5833872"/>
            <a:ext cx="64008" cy="47548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33872"/>
            <a:ext cx="10417759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 truth value of a compound proposition is decided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only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by its parts and the connectives — never by the meaning of the words.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The logical connectives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7"/>
            <a:ext cx="10874959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Symbol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664207"/>
            <a:ext cx="169163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1664207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Read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3488" y="1664207"/>
            <a:ext cx="41083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True exactly when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21408"/>
            <a:ext cx="1087495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121408"/>
            <a:ext cx="1325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07B1D"/>
                </a:solidFill>
                <a:latin typeface="Cambria Math"/>
              </a:rPr>
              <a:t>¬p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2121408"/>
            <a:ext cx="19659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Negation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2121408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“not p”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7" y="2121408"/>
            <a:ext cx="41998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p is 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779776"/>
            <a:ext cx="10874959" cy="65836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779776"/>
            <a:ext cx="1325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6FB2"/>
                </a:solidFill>
                <a:latin typeface="Cambria Math"/>
              </a:rPr>
              <a:t>p ∧ 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2779776"/>
            <a:ext cx="19659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Conjunction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779776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“p and q”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7" y="2779776"/>
            <a:ext cx="41998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both p and q are 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38144"/>
            <a:ext cx="1087495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438144"/>
            <a:ext cx="1325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E8F7E"/>
                </a:solidFill>
                <a:latin typeface="Cambria Math"/>
              </a:rPr>
              <a:t>p ∨ 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5688" y="3438144"/>
            <a:ext cx="19659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Disjunction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3438144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“p or q”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7" y="3438144"/>
            <a:ext cx="41998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at least one of them is 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096512"/>
            <a:ext cx="10874959" cy="65836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096512"/>
            <a:ext cx="1325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4EA8"/>
                </a:solidFill>
                <a:latin typeface="Cambria Math"/>
              </a:rPr>
              <a:t>p ⊕ 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4096512"/>
            <a:ext cx="19659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Exclusive 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4096512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“p or q, but not both”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7" y="4096512"/>
            <a:ext cx="41998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exactly one of them is true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754879"/>
            <a:ext cx="1087495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4754879"/>
            <a:ext cx="132588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2A43"/>
                </a:solidFill>
                <a:latin typeface="Cambria Math"/>
              </a:rPr>
              <a:t>p → 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4754879"/>
            <a:ext cx="196596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Conditional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4754879"/>
            <a:ext cx="3200400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“if p, then q”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7" y="4754879"/>
            <a:ext cx="41998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it is never the case that p is true and q is false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641848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5641848"/>
            <a:ext cx="64008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41775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One more — the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biconditional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 ↔ 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waits for the next class. Master these five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CONNECTIVE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Negation  —  ¬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82296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664207"/>
            <a:ext cx="1023487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B2D3E"/>
                </a:solidFill>
                <a:latin typeface="Segoe UI"/>
              </a:rPr>
              <a:t>The 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negation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of </a:t>
            </a:r>
            <a:r>
              <a:rPr sz="17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, written </a:t>
            </a:r>
            <a:r>
              <a:rPr sz="1750" b="1">
                <a:solidFill>
                  <a:srgbClr val="1F6FB2"/>
                </a:solidFill>
                <a:latin typeface="Cambria Math"/>
              </a:rPr>
              <a:t>¬p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, is the statement “it is not the case that p”. It simply 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flips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the truth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7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2761487"/>
            <a:ext cx="1104138" cy="420623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¬p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7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8528" y="3182111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7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38528" y="3566159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4078223"/>
            <a:ext cx="206425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truth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9906" y="2761487"/>
            <a:ext cx="771342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The earth is flat.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¬p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It is not the case that the earth is flat.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In plain English: 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The earth is not flat.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endParaRPr sz="1500" b="1" i="0">
              <a:solidFill>
                <a:srgbClr val="1B2D3E"/>
              </a:solidFill>
              <a:latin typeface="Segoe UI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00" b="1">
                <a:solidFill>
                  <a:srgbClr val="C23B2E"/>
                </a:solidFill>
                <a:latin typeface="Segoe UI"/>
              </a:rPr>
              <a:t>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, so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00" b="1">
                <a:solidFill>
                  <a:srgbClr val="1C8A55"/>
                </a:solidFill>
                <a:latin typeface="Segoe UI"/>
              </a:rPr>
              <a:t>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68112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5468112"/>
            <a:ext cx="64008" cy="71323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68112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Negation takes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one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proposition. Every other connective below takes two.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CONNECTIVE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Conjunction  —  ∧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664207"/>
            <a:ext cx="1023487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F6FB2"/>
                </a:solidFill>
                <a:latin typeface="Cambria Math"/>
              </a:rPr>
              <a:t>p ∧ q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means “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p and q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”.  It is true 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only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when </a:t>
            </a:r>
            <a:r>
              <a:rPr sz="17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and </a:t>
            </a:r>
            <a:r>
              <a:rPr sz="17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are 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both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true.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7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2761487"/>
            <a:ext cx="1104138" cy="420623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 ∧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7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3182111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7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8648" y="3566159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7" y="3950207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28" y="3950207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98648" y="3950207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7" y="4334255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38528" y="4334255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8648" y="4334255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846319"/>
            <a:ext cx="302437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truth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0026" y="2761487"/>
            <a:ext cx="67533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Messi is playing.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Argentina is winning.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 ∧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Messi is playing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Argentina is winning.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endParaRPr sz="1500" b="0" i="0">
              <a:solidFill>
                <a:srgbClr val="1B2D3E"/>
              </a:solidFill>
              <a:latin typeface="Segoe UI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Messi is playing but Argentina is losing, the whole sentence is </a:t>
            </a:r>
            <a:r>
              <a:rPr sz="1500" b="1">
                <a:solidFill>
                  <a:srgbClr val="C23B2E"/>
                </a:solidFill>
                <a:latin typeface="Segoe UI"/>
              </a:rPr>
              <a:t>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468112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468112"/>
            <a:ext cx="64008" cy="71323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68112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Watch for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but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however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yet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although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still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— in logic they all mean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  “The museum is open,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but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you need a ticket”  →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m ∧ 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CONNECTIVE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Disjunction  —  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822960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664207"/>
            <a:ext cx="1023487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F6FB2"/>
                </a:solidFill>
                <a:latin typeface="Cambria Math"/>
              </a:rPr>
              <a:t>p ∨ q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means “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p or q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”.  It is false 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only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when both are false — so one true part is enough.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7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2761487"/>
            <a:ext cx="1104138" cy="420623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 ∨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7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3182111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7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8648" y="3566159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7" y="3950207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28" y="3950207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98648" y="3950207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7" y="4334255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38528" y="4334255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8648" y="4334255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846319"/>
            <a:ext cx="302437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truth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0026" y="2761487"/>
            <a:ext cx="67533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You have taken Calculus.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You have taken Programming.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 ∨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You have taken Calculus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or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you have taken Programming.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endParaRPr sz="1500" b="0" i="0">
              <a:solidFill>
                <a:srgbClr val="1B2D3E"/>
              </a:solidFill>
              <a:latin typeface="Segoe UI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Taken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both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?  Still allowed.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 ∨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00" b="1">
                <a:solidFill>
                  <a:srgbClr val="1C8A55"/>
                </a:solidFill>
                <a:latin typeface="Segoe UI"/>
              </a:rPr>
              <a:t>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468112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468112"/>
            <a:ext cx="64008" cy="71323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68112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dirty="0">
                <a:solidFill>
                  <a:srgbClr val="1B2D3E"/>
                </a:solidFill>
                <a:latin typeface="Segoe UI"/>
              </a:rPr>
              <a:t>This is the </a:t>
            </a:r>
            <a:r>
              <a:rPr sz="1500" b="1" i="0" dirty="0">
                <a:solidFill>
                  <a:srgbClr val="1B2D3E"/>
                </a:solidFill>
                <a:latin typeface="Segoe UI"/>
              </a:rPr>
              <a:t>inclusive or</a:t>
            </a:r>
            <a:r>
              <a:rPr sz="1500" b="0" i="0" dirty="0">
                <a:solidFill>
                  <a:srgbClr val="1B2D3E"/>
                </a:solidFill>
                <a:latin typeface="Segoe UI"/>
              </a:rPr>
              <a:t>:  “p, or q, or both”.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CONNECTIVE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Exclusive or  —  ⊕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822960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664207"/>
            <a:ext cx="1023487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F6FB2"/>
                </a:solidFill>
                <a:latin typeface="Cambria Math"/>
              </a:rPr>
              <a:t>p ⊕ q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means “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p or q, but not both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”.  It is true when </a:t>
            </a:r>
            <a:r>
              <a:rPr sz="1650" b="1" i="0">
                <a:solidFill>
                  <a:srgbClr val="1B2D3E"/>
                </a:solidFill>
                <a:latin typeface="Segoe UI"/>
              </a:rPr>
              <a:t>exactly one</a:t>
            </a:r>
            <a:r>
              <a:rPr sz="1650" b="0" i="0">
                <a:solidFill>
                  <a:srgbClr val="1B2D3E"/>
                </a:solidFill>
                <a:latin typeface="Segoe UI"/>
              </a:rPr>
              <a:t> of them is true.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7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2761487"/>
            <a:ext cx="960120" cy="420623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2761487"/>
            <a:ext cx="1104138" cy="420623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mbria Math"/>
              </a:rPr>
              <a:t>p ⊕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7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3182111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7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566159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98648" y="3566159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7" y="3950207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28" y="3950207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98648" y="3950207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7" y="4334255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38528" y="4334255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8648" y="4334255"/>
            <a:ext cx="1104138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4846319"/>
            <a:ext cx="302437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truth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0026" y="2761487"/>
            <a:ext cx="67533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Example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The meal comes with soup.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The meal comes with salad.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 ⊕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:  The meal comes with soup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or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salad —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not both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endParaRPr sz="1500" b="0" i="0">
              <a:solidFill>
                <a:srgbClr val="1B2D3E"/>
              </a:solidFill>
              <a:latin typeface="Segoe UI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Take both and you have broken the deal:  </a:t>
            </a:r>
            <a:r>
              <a:rPr sz="1500" b="1">
                <a:solidFill>
                  <a:srgbClr val="C23B2E"/>
                </a:solidFill>
                <a:latin typeface="Segoe UI"/>
              </a:rPr>
              <a:t>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468112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5468112"/>
            <a:ext cx="64008" cy="71323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68112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Same English word “or”, two different meanings. The sentence — not the word — tells you which one to use.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∨ VERSUS 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Which “or” did they mean?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9928"/>
            <a:ext cx="5163159" cy="96012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1709928"/>
            <a:ext cx="452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0E8F7E"/>
                </a:solidFill>
                <a:latin typeface="Segoe UI"/>
              </a:rPr>
              <a:t>Inclusive  </a:t>
            </a:r>
            <a:r>
              <a:rPr sz="2000" b="1">
                <a:solidFill>
                  <a:srgbClr val="1F6FB2"/>
                </a:solidFill>
                <a:latin typeface="Cambria Math"/>
              </a:rPr>
              <a:t>∨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“at least one” — both is fine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1709928"/>
            <a:ext cx="5163159" cy="960120"/>
          </a:xfrm>
          <a:prstGeom prst="roundRect">
            <a:avLst>
              <a:gd name="adj" fmla="val 6000"/>
            </a:avLst>
          </a:prstGeom>
          <a:solidFill>
            <a:srgbClr val="F2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0207" y="1709928"/>
            <a:ext cx="4523079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6B4EA8"/>
                </a:solidFill>
                <a:latin typeface="Segoe UI"/>
              </a:rPr>
              <a:t>Exclusive  </a:t>
            </a:r>
            <a:r>
              <a:rPr sz="2000" b="1">
                <a:solidFill>
                  <a:srgbClr val="1F6FB2"/>
                </a:solidFill>
                <a:latin typeface="Cambria Math"/>
              </a:rPr>
              <a:t>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“exactly one” — both is not allowed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07208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2807208"/>
            <a:ext cx="64008" cy="676656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2807208"/>
            <a:ext cx="6400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“Students who have taken Physics or Chemistry may apply.”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807208"/>
            <a:ext cx="365119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8F7E"/>
                </a:solidFill>
                <a:latin typeface="Segoe UI"/>
              </a:rPr>
              <a:t>Both subjects? Even better. →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57015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3557015"/>
            <a:ext cx="64008" cy="676656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7" y="3557015"/>
            <a:ext cx="6400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1B2D3E"/>
                </a:solidFill>
                <a:latin typeface="Segoe UI"/>
              </a:rPr>
              <a:t>“The set menu comes with a drink or a dessert</a:t>
            </a:r>
            <a:r>
              <a:rPr lang="en-US" sz="1500" b="0" i="0">
                <a:solidFill>
                  <a:srgbClr val="1B2D3E"/>
                </a:solidFill>
                <a:latin typeface="Segoe UI"/>
              </a:rPr>
              <a:t>, but not </a:t>
            </a:r>
            <a:r>
              <a:rPr lang="en-US" sz="1500" b="0" i="0" dirty="0">
                <a:solidFill>
                  <a:srgbClr val="1B2D3E"/>
                </a:solidFill>
                <a:latin typeface="Segoe UI"/>
              </a:rPr>
              <a:t>both</a:t>
            </a:r>
            <a:r>
              <a:rPr sz="1500" b="0" i="0" dirty="0">
                <a:solidFill>
                  <a:srgbClr val="1B2D3E"/>
                </a:solidFill>
                <a:latin typeface="Segoe UI"/>
              </a:rPr>
              <a:t>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3557015"/>
            <a:ext cx="365119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4EA8"/>
                </a:solidFill>
                <a:latin typeface="Segoe UI"/>
              </a:rPr>
              <a:t>You pick one, not both. →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06824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4306824"/>
            <a:ext cx="64008" cy="676656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7" y="4306824"/>
            <a:ext cx="6400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“The prize winner will receive either a gold medal or a silver medal, but not both.”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4306824"/>
            <a:ext cx="365119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B4EA8"/>
                </a:solidFill>
                <a:latin typeface="Segoe UI"/>
              </a:rPr>
              <a:t>“but not both” says it outright. →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56631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5056631"/>
            <a:ext cx="64008" cy="676656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7" y="5056631"/>
            <a:ext cx="640080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“You need an ID card or a passport to enter.”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5056631"/>
            <a:ext cx="3651199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8F7E"/>
                </a:solidFill>
                <a:latin typeface="Segoe UI"/>
              </a:rPr>
              <a:t>Carrying both is not a problem. →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7044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7388"/>
                </a:solidFill>
                <a:latin typeface="Segoe UI"/>
              </a:rPr>
              <a:t>Rule of thumb: if doing both is impossible or forbidden, it is ⊕. Otherwise it is ∨.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∨ VERSUS 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More examples: which “or” is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14</a:t>
            </a:r>
          </a:p>
        </p:txBody>
      </p:sp>
      <p:sp>
        <p:nvSpPr>
          <p:cNvPr id="101" name="Shape 101"/>
          <p:cNvSpPr/>
          <p:nvPr/>
        </p:nvSpPr>
        <p:spPr>
          <a:xfrm>
            <a:off x="658368" y="1600200"/>
            <a:ext cx="5163159" cy="64008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" name="TextBox 102"/>
          <p:cNvSpPr txBox="1"/>
          <p:nvPr/>
        </p:nvSpPr>
        <p:spPr>
          <a:xfrm>
            <a:off x="978408" y="1600200"/>
            <a:ext cx="4523079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i="0" dirty="0">
                <a:solidFill>
                  <a:srgbClr val="0E8F7E"/>
                </a:solidFill>
                <a:latin typeface="Segoe UI"/>
                <a:cs typeface="Segoe UI"/>
              </a:rPr>
              <a:t>Inclusive  </a:t>
            </a:r>
            <a:r>
              <a:rPr lang="en-US" sz="1800" b="1" i="0" dirty="0">
                <a:solidFill>
                  <a:srgbClr val="1F6FB2"/>
                </a:solidFill>
                <a:latin typeface="Cambria Math"/>
                <a:cs typeface="Cambria Math"/>
              </a:rPr>
              <a:t>∨</a:t>
            </a:r>
            <a:r>
              <a:rPr lang="en-US" sz="1300" b="0" i="0" dirty="0">
                <a:solidFill>
                  <a:srgbClr val="1B2D3E"/>
                </a:solidFill>
                <a:latin typeface="Segoe UI"/>
                <a:cs typeface="Segoe UI"/>
              </a:rPr>
              <a:t>   “at least one” — both is fine</a:t>
            </a:r>
          </a:p>
        </p:txBody>
      </p:sp>
      <p:sp>
        <p:nvSpPr>
          <p:cNvPr id="103" name="Shape 103"/>
          <p:cNvSpPr/>
          <p:nvPr/>
        </p:nvSpPr>
        <p:spPr>
          <a:xfrm>
            <a:off x="658368" y="2377440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Shape 104"/>
          <p:cNvSpPr/>
          <p:nvPr/>
        </p:nvSpPr>
        <p:spPr>
          <a:xfrm>
            <a:off x="658368" y="2377440"/>
            <a:ext cx="64008" cy="868680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TextBox 105"/>
          <p:cNvSpPr txBox="1"/>
          <p:nvPr/>
        </p:nvSpPr>
        <p:spPr>
          <a:xfrm>
            <a:off x="932688" y="2377440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“To apply for a PhD program, you need to have IELTS or TOEFL scores.”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E8F7E"/>
                </a:solidFill>
                <a:latin typeface="Segoe UI"/>
                <a:cs typeface="Segoe UI"/>
              </a:rPr>
              <a:t>Having both scores is fine.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∨</a:t>
            </a:r>
          </a:p>
        </p:txBody>
      </p:sp>
      <p:sp>
        <p:nvSpPr>
          <p:cNvPr id="106" name="Shape 106"/>
          <p:cNvSpPr/>
          <p:nvPr/>
        </p:nvSpPr>
        <p:spPr>
          <a:xfrm>
            <a:off x="658368" y="3328416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Shape 107"/>
          <p:cNvSpPr/>
          <p:nvPr/>
        </p:nvSpPr>
        <p:spPr>
          <a:xfrm>
            <a:off x="658368" y="3328416"/>
            <a:ext cx="64008" cy="868680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8"/>
          <p:cNvSpPr txBox="1"/>
          <p:nvPr/>
        </p:nvSpPr>
        <p:spPr>
          <a:xfrm>
            <a:off x="932688" y="3328416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“You can contact the instructor through email or WhatsApp.”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E8F7E"/>
                </a:solidFill>
                <a:latin typeface="Segoe UI"/>
                <a:cs typeface="Segoe UI"/>
              </a:rPr>
              <a:t>Using both works too.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∨</a:t>
            </a:r>
          </a:p>
        </p:txBody>
      </p:sp>
      <p:sp>
        <p:nvSpPr>
          <p:cNvPr id="109" name="Shape 109"/>
          <p:cNvSpPr/>
          <p:nvPr/>
        </p:nvSpPr>
        <p:spPr>
          <a:xfrm>
            <a:off x="658368" y="4279392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658368" y="4279392"/>
            <a:ext cx="64008" cy="868680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TextBox 111"/>
          <p:cNvSpPr txBox="1"/>
          <p:nvPr/>
        </p:nvSpPr>
        <p:spPr>
          <a:xfrm>
            <a:off x="932688" y="4279392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“You need a passport or a national ID to complete the registration process.”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E8F7E"/>
                </a:solidFill>
                <a:latin typeface="Segoe UI"/>
                <a:cs typeface="Segoe UI"/>
              </a:rPr>
              <a:t>Bringing both is no problem.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∨</a:t>
            </a:r>
          </a:p>
        </p:txBody>
      </p:sp>
      <p:sp>
        <p:nvSpPr>
          <p:cNvPr id="112" name="Shape 112"/>
          <p:cNvSpPr/>
          <p:nvPr/>
        </p:nvSpPr>
        <p:spPr>
          <a:xfrm>
            <a:off x="658368" y="5230368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658368" y="5230368"/>
            <a:ext cx="64008" cy="868680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14"/>
          <p:cNvSpPr txBox="1"/>
          <p:nvPr/>
        </p:nvSpPr>
        <p:spPr>
          <a:xfrm>
            <a:off x="932688" y="5230368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“Students can learn Python or Java in the first year.”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0E8F7E"/>
                </a:solidFill>
                <a:latin typeface="Segoe UI"/>
                <a:cs typeface="Segoe UI"/>
              </a:rPr>
              <a:t>Learning both is allowed.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∨</a:t>
            </a:r>
          </a:p>
        </p:txBody>
      </p:sp>
      <p:sp>
        <p:nvSpPr>
          <p:cNvPr id="115" name="Shape 115"/>
          <p:cNvSpPr/>
          <p:nvPr/>
        </p:nvSpPr>
        <p:spPr>
          <a:xfrm>
            <a:off x="6370167" y="1600200"/>
            <a:ext cx="5163159" cy="640080"/>
          </a:xfrm>
          <a:prstGeom prst="roundRect">
            <a:avLst>
              <a:gd name="adj" fmla="val 6000"/>
            </a:avLst>
          </a:prstGeom>
          <a:solidFill>
            <a:srgbClr val="F2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16"/>
          <p:cNvSpPr txBox="1"/>
          <p:nvPr/>
        </p:nvSpPr>
        <p:spPr>
          <a:xfrm>
            <a:off x="6690207" y="1600200"/>
            <a:ext cx="4523079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i="0" dirty="0">
                <a:solidFill>
                  <a:srgbClr val="6B4EA8"/>
                </a:solidFill>
                <a:latin typeface="Segoe UI"/>
                <a:cs typeface="Segoe UI"/>
              </a:rPr>
              <a:t>Exclusive  </a:t>
            </a:r>
            <a:r>
              <a:rPr lang="en-US" sz="1800" b="1" i="0" dirty="0">
                <a:solidFill>
                  <a:srgbClr val="1F6FB2"/>
                </a:solidFill>
                <a:latin typeface="Cambria Math"/>
                <a:cs typeface="Cambria Math"/>
              </a:rPr>
              <a:t>⊕</a:t>
            </a:r>
            <a:r>
              <a:rPr lang="en-US" sz="1300" b="0" i="0" dirty="0">
                <a:solidFill>
                  <a:srgbClr val="1B2D3E"/>
                </a:solidFill>
                <a:latin typeface="Segoe UI"/>
                <a:cs typeface="Segoe UI"/>
              </a:rPr>
              <a:t>   “exactly one” — not both</a:t>
            </a:r>
          </a:p>
        </p:txBody>
      </p:sp>
      <p:sp>
        <p:nvSpPr>
          <p:cNvPr id="117" name="Shape 117"/>
          <p:cNvSpPr/>
          <p:nvPr/>
        </p:nvSpPr>
        <p:spPr>
          <a:xfrm>
            <a:off x="6370167" y="2377440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Shape 118"/>
          <p:cNvSpPr/>
          <p:nvPr/>
        </p:nvSpPr>
        <p:spPr>
          <a:xfrm>
            <a:off x="6370167" y="2377440"/>
            <a:ext cx="64008" cy="868680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TextBox 119"/>
          <p:cNvSpPr txBox="1"/>
          <p:nvPr/>
        </p:nvSpPr>
        <p:spPr>
          <a:xfrm>
            <a:off x="6644487" y="2377440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“Tamim or Shakib will be the next captain of the national cricket team.”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6B4EA8"/>
                </a:solidFill>
                <a:latin typeface="Segoe UI"/>
                <a:cs typeface="Segoe UI"/>
              </a:rPr>
              <a:t>Only one captain at a time.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⊕</a:t>
            </a:r>
          </a:p>
        </p:txBody>
      </p:sp>
      <p:sp>
        <p:nvSpPr>
          <p:cNvPr id="120" name="Shape 120"/>
          <p:cNvSpPr/>
          <p:nvPr/>
        </p:nvSpPr>
        <p:spPr>
          <a:xfrm>
            <a:off x="6370167" y="3328416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Shape 121"/>
          <p:cNvSpPr/>
          <p:nvPr/>
        </p:nvSpPr>
        <p:spPr>
          <a:xfrm>
            <a:off x="6370167" y="3328416"/>
            <a:ext cx="64008" cy="868680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TextBox 122"/>
          <p:cNvSpPr txBox="1"/>
          <p:nvPr/>
        </p:nvSpPr>
        <p:spPr>
          <a:xfrm>
            <a:off x="6644487" y="3328416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“The switch is ON or OFF.”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6B4EA8"/>
                </a:solidFill>
                <a:latin typeface="Segoe UI"/>
                <a:cs typeface="Segoe UI"/>
              </a:rPr>
              <a:t>It can’t be both at once.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⊕</a:t>
            </a:r>
          </a:p>
        </p:txBody>
      </p:sp>
      <p:sp>
        <p:nvSpPr>
          <p:cNvPr id="123" name="Shape 123"/>
          <p:cNvSpPr/>
          <p:nvPr/>
        </p:nvSpPr>
        <p:spPr>
          <a:xfrm>
            <a:off x="6370167" y="4279392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6370167" y="4279392"/>
            <a:ext cx="64008" cy="868680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TextBox 125"/>
          <p:cNvSpPr txBox="1"/>
          <p:nvPr/>
        </p:nvSpPr>
        <p:spPr>
          <a:xfrm>
            <a:off x="6644487" y="4279392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“A student will pass or fail the examination.”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6B4EA8"/>
                </a:solidFill>
                <a:latin typeface="Segoe UI"/>
                <a:cs typeface="Segoe UI"/>
              </a:rPr>
              <a:t>Both results can’t happen together.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⊕</a:t>
            </a:r>
          </a:p>
        </p:txBody>
      </p:sp>
      <p:sp>
        <p:nvSpPr>
          <p:cNvPr id="126" name="Shape 126"/>
          <p:cNvSpPr/>
          <p:nvPr/>
        </p:nvSpPr>
        <p:spPr>
          <a:xfrm>
            <a:off x="6370167" y="5230368"/>
            <a:ext cx="5163159" cy="8686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Shape 127"/>
          <p:cNvSpPr/>
          <p:nvPr/>
        </p:nvSpPr>
        <p:spPr>
          <a:xfrm>
            <a:off x="6370167" y="5230368"/>
            <a:ext cx="64008" cy="868680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28"/>
          <p:cNvSpPr txBox="1"/>
          <p:nvPr/>
        </p:nvSpPr>
        <p:spPr>
          <a:xfrm>
            <a:off x="6644487" y="5230368"/>
            <a:ext cx="4705959" cy="8686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350" b="0" i="0" dirty="0">
                <a:solidFill>
                  <a:srgbClr val="1B2D3E"/>
                </a:solidFill>
                <a:latin typeface="Segoe UI"/>
                <a:cs typeface="Segoe UI"/>
              </a:rPr>
              <a:t>“The coin will land on heads or tails.”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6B4EA8"/>
                </a:solidFill>
                <a:latin typeface="Segoe UI"/>
                <a:cs typeface="Segoe UI"/>
              </a:rPr>
              <a:t>Exactly one face lands up. → </a:t>
            </a:r>
            <a:r>
              <a:rPr lang="en-US" sz="1300" b="1" i="0" dirty="0">
                <a:solidFill>
                  <a:srgbClr val="1F6FB2"/>
                </a:solidFill>
                <a:latin typeface="Cambria Math"/>
                <a:cs typeface="Cambria Math"/>
              </a:rPr>
              <a:t>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PUTTING THE CONNECTIVES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Truth table of a compound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71323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71323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1041775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A compound proposition with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n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different variables needs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2ⁿ rows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— one for every combination of truth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786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Step 1  ·  list every combination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035808"/>
            <a:ext cx="731520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81328" y="3035808"/>
            <a:ext cx="731520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374136"/>
            <a:ext cx="7315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1328" y="3374136"/>
            <a:ext cx="7315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675887"/>
            <a:ext cx="73152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675887"/>
            <a:ext cx="73152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977639"/>
            <a:ext cx="7315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977639"/>
            <a:ext cx="73152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279392"/>
            <a:ext cx="73152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1328" y="4279392"/>
            <a:ext cx="73152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1448" y="3081528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2 variables  →  4 rows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3 variables  →  8 rows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7388"/>
                </a:solidFill>
                <a:latin typeface="Segoe UI"/>
              </a:rPr>
              <a:t>4 variables  →  16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90288"/>
            <a:ext cx="3749039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Always use the same order: the first column is half T then half F, and each next column halves the block again. That way no row is missed and no row is repeated.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578608"/>
            <a:ext cx="67601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Step 2  ·  build one column at a time  —  </a:t>
            </a:r>
            <a:r>
              <a:rPr sz="1650" b="1">
                <a:solidFill>
                  <a:srgbClr val="1F6FB2"/>
                </a:solidFill>
                <a:latin typeface="Cambria Math"/>
              </a:rPr>
              <a:t>(p ∨ q) ∧ ¬r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7" y="3035808"/>
            <a:ext cx="658368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5" y="3035808"/>
            <a:ext cx="658368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3" y="3035808"/>
            <a:ext cx="658368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9711" y="3035808"/>
            <a:ext cx="1051560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p ∨ 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91271" y="3035808"/>
            <a:ext cx="822960" cy="3383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¬r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14232" y="3035808"/>
            <a:ext cx="1691640" cy="33832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 Math"/>
              </a:rPr>
              <a:t>(p ∨ q) ∧ ¬r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7" y="3374136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22975" y="3374136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81343" y="3374136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1" y="3374136"/>
            <a:ext cx="10515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91271" y="3374136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14232" y="3374136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4607" y="3675887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2975" y="3675887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3" y="3675887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9711" y="3675887"/>
            <a:ext cx="10515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91271" y="3675887"/>
            <a:ext cx="8229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14232" y="3675887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7" y="3977639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22975" y="3977639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1343" y="3977639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9711" y="3977639"/>
            <a:ext cx="10515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91271" y="3977639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14232" y="3977639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7" y="4279392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22975" y="4279392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81343" y="4279392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39711" y="4279392"/>
            <a:ext cx="10515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91271" y="4279392"/>
            <a:ext cx="8229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14232" y="4279392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64607" y="4581144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22975" y="4581144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81343" y="4581144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39711" y="4581144"/>
            <a:ext cx="10515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91271" y="4581144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14232" y="4581144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7" y="4882896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2975" y="4882896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1343" y="4882896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39711" y="4882896"/>
            <a:ext cx="10515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91271" y="4882896"/>
            <a:ext cx="8229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14232" y="4882896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64607" y="5184648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22975" y="5184648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81343" y="5184648"/>
            <a:ext cx="658368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39711" y="5184648"/>
            <a:ext cx="10515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91271" y="5184648"/>
            <a:ext cx="82296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14232" y="5184648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64607" y="5486400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22975" y="5486400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81343" y="5486400"/>
            <a:ext cx="658368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39711" y="5486400"/>
            <a:ext cx="10515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91271" y="5486400"/>
            <a:ext cx="822960" cy="301752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14232" y="5486400"/>
            <a:ext cx="1691640" cy="301752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64607" y="5797296"/>
            <a:ext cx="554126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the three input columns  ·  then the pieces  ·  then the answer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PRACTICE · 3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Write it in symbols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91440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55648"/>
            <a:ext cx="10143439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Let: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6FB2"/>
                </a:solidFill>
                <a:latin typeface="Cambria Math"/>
              </a:rPr>
              <a:t>c</a:t>
            </a:r>
            <a:r>
              <a:rPr sz="1550" b="0" i="0">
                <a:solidFill>
                  <a:srgbClr val="FFFFFF"/>
                </a:solidFill>
                <a:latin typeface="Segoe UI"/>
              </a:rPr>
              <a:t> : The canteen is open.          </a:t>
            </a:r>
            <a:r>
              <a:rPr sz="1650" b="1">
                <a:solidFill>
                  <a:srgbClr val="1F6FB2"/>
                </a:solidFill>
                <a:latin typeface="Cambria Math"/>
              </a:rPr>
              <a:t>l</a:t>
            </a:r>
            <a:r>
              <a:rPr sz="1550" b="0" i="0">
                <a:solidFill>
                  <a:srgbClr val="FFFFFF"/>
                </a:solidFill>
                <a:latin typeface="Segoe UI"/>
              </a:rPr>
              <a:t> : I bring lunch from home.          </a:t>
            </a:r>
            <a:r>
              <a:rPr sz="1650" b="1">
                <a:solidFill>
                  <a:srgbClr val="1F6FB2"/>
                </a:solidFill>
                <a:latin typeface="Cambria Math"/>
              </a:rPr>
              <a:t>h</a:t>
            </a:r>
            <a:r>
              <a:rPr sz="1550" b="0" i="0">
                <a:solidFill>
                  <a:srgbClr val="FFFFFF"/>
                </a:solidFill>
                <a:latin typeface="Segoe UI"/>
              </a:rPr>
              <a:t> : I am hungry in 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5292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9536" y="3008376"/>
            <a:ext cx="420624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852928"/>
            <a:ext cx="740664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The canteen is open and I did not bring lunch from home.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852928"/>
            <a:ext cx="209671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Cambria Math"/>
              </a:rPr>
              <a:t>c ∧ ¬l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94176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9536" y="3849624"/>
            <a:ext cx="420624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694176"/>
            <a:ext cx="740664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Either the canteen is open or I bring lunch from home, but not both.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3694176"/>
            <a:ext cx="209671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Cambria Math"/>
              </a:rPr>
              <a:t>c ⊕ 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35424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9536" y="4690872"/>
            <a:ext cx="420624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535424"/>
            <a:ext cx="7406640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 am hungry in class, and neither the canteen is open nor did I bring lunch.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4535424"/>
            <a:ext cx="209671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Cambria Math"/>
              </a:rPr>
              <a:t>h ∧ ¬(c ∨ 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58968"/>
            <a:ext cx="10874959" cy="64008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5458968"/>
            <a:ext cx="64008" cy="64008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458968"/>
            <a:ext cx="10417759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Neither A nor B can be expressed as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¬(A ∨ B)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or equivalently as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¬A ∧ ¬B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 Both expressions mean that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neither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of the two conditions is true.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CONNECTIVE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Conditional statement  —  a 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64207"/>
            <a:ext cx="7406640" cy="82296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1664207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“ If it rains, I will stay home. 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15768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When have I broken my promise?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18687"/>
            <a:ext cx="2444419" cy="192024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419856"/>
            <a:ext cx="1987219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It rained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 stayed home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Promise kept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8547" y="3218687"/>
            <a:ext cx="2444419" cy="19202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7147" y="3419856"/>
            <a:ext cx="1987219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It rained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 went 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Promise broken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3218687"/>
            <a:ext cx="2444419" cy="192024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7327" y="3419856"/>
            <a:ext cx="1987219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No rain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 stayed home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I promised nothing about this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8907" y="3218687"/>
            <a:ext cx="2444419" cy="192024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7507" y="3419856"/>
            <a:ext cx="1987219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No rain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 went out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F7388"/>
                </a:solidFill>
                <a:latin typeface="Segoe UI"/>
              </a:rPr>
              <a:t>I promised nothing about this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367527"/>
            <a:ext cx="10874959" cy="77724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5367527"/>
            <a:ext cx="64008" cy="77724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67527"/>
            <a:ext cx="10417759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1B2D3E"/>
                </a:solidFill>
                <a:latin typeface="Segoe UI"/>
              </a:rPr>
              <a:t>The promise is broken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only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in case 2 — rain came, I did not stay home.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1B2D3E"/>
                </a:solidFill>
                <a:latin typeface="Segoe UI"/>
              </a:rPr>
              <a:t>When it does not rain the promise is simply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not tested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, so it still counts as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kept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THE CONDITIONAL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Truth table of  p → q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74980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64008" cy="74980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664207"/>
            <a:ext cx="10234879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700" b="1" i="0">
                <a:solidFill>
                  <a:srgbClr val="1B2D3E"/>
                </a:solidFill>
                <a:latin typeface="Segoe UI"/>
              </a:rPr>
              <a:t>false in exactly one case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:  </a:t>
            </a:r>
            <a:r>
              <a:rPr sz="18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is true and </a:t>
            </a:r>
            <a:r>
              <a:rPr sz="18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is false. In every other case it is </a:t>
            </a:r>
            <a:r>
              <a:rPr sz="1700" b="1" i="0">
                <a:solidFill>
                  <a:srgbClr val="1B2D3E"/>
                </a:solidFill>
                <a:latin typeface="Segoe UI"/>
              </a:rPr>
              <a:t>true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2807208"/>
            <a:ext cx="1051560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5688" y="2807208"/>
            <a:ext cx="1051560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807208"/>
            <a:ext cx="1209293" cy="4572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 Math"/>
              </a:rPr>
              <a:t>p →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264408"/>
            <a:ext cx="1051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3264408"/>
            <a:ext cx="1051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264408"/>
            <a:ext cx="1209293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685032"/>
            <a:ext cx="105156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3685032"/>
            <a:ext cx="105156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685032"/>
            <a:ext cx="1209293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105656"/>
            <a:ext cx="1051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75688" y="4105656"/>
            <a:ext cx="1051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7248" y="4105656"/>
            <a:ext cx="1209293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4526280"/>
            <a:ext cx="105156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75688" y="4526280"/>
            <a:ext cx="105156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7248" y="4526280"/>
            <a:ext cx="1209293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65142" y="3474720"/>
            <a:ext cx="548639" cy="0"/>
          </a:xfrm>
          <a:prstGeom prst="line">
            <a:avLst/>
          </a:prstGeom>
          <a:ln w="15875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50942" y="3264408"/>
            <a:ext cx="628238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F7388"/>
                </a:solidFill>
                <a:latin typeface="Segoe UI"/>
              </a:rPr>
              <a:t>It rained and I stayed home — </a:t>
            </a:r>
            <a:r>
              <a:rPr sz="1450" b="1" i="0">
                <a:solidFill>
                  <a:srgbClr val="5F7388"/>
                </a:solidFill>
                <a:latin typeface="Segoe UI"/>
              </a:rPr>
              <a:t>kept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65142" y="3895344"/>
            <a:ext cx="548639" cy="0"/>
          </a:xfrm>
          <a:prstGeom prst="line">
            <a:avLst/>
          </a:prstGeom>
          <a:ln w="15875">
            <a:solidFill>
              <a:srgbClr val="C23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50942" y="3685032"/>
            <a:ext cx="628238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23B2E"/>
                </a:solidFill>
                <a:latin typeface="Segoe UI"/>
              </a:rPr>
              <a:t>It rained and I went out — </a:t>
            </a:r>
            <a:r>
              <a:rPr sz="1450" b="1" i="0">
                <a:solidFill>
                  <a:srgbClr val="C23B2E"/>
                </a:solidFill>
                <a:latin typeface="Segoe UI"/>
              </a:rPr>
              <a:t>broken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65142" y="4315968"/>
            <a:ext cx="548639" cy="0"/>
          </a:xfrm>
          <a:prstGeom prst="line">
            <a:avLst/>
          </a:prstGeom>
          <a:ln w="15875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50942" y="4105656"/>
            <a:ext cx="628238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F7388"/>
                </a:solidFill>
                <a:latin typeface="Segoe UI"/>
              </a:rPr>
              <a:t>No rain — promise never tested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65142" y="4736592"/>
            <a:ext cx="548639" cy="0"/>
          </a:xfrm>
          <a:prstGeom prst="line">
            <a:avLst/>
          </a:prstGeom>
          <a:ln w="15875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50942" y="4526280"/>
            <a:ext cx="6282385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F7388"/>
                </a:solidFill>
                <a:latin typeface="Segoe UI"/>
              </a:rPr>
              <a:t>No rain — promise never tested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0942" y="5266944"/>
            <a:ext cx="6282385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Memory hook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A conditional is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innocent until proven guilty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 You need a true hypothesis and a false conclusion to convict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358384"/>
            <a:ext cx="4043933" cy="68580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8368" y="5358384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358384"/>
            <a:ext cx="3586733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 is also written 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p implies 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ANATOMY OF  P →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Hypothesis and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5"/>
            <a:ext cx="10874959" cy="15544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5" y="1883663"/>
            <a:ext cx="36576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A43"/>
                </a:solidFill>
                <a:latin typeface="Segoe UI"/>
              </a:rPr>
              <a:t>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39" y="1883663"/>
            <a:ext cx="15544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07B1D"/>
                </a:solidFill>
                <a:latin typeface="Segoe UI"/>
              </a:rPr>
              <a:t>it rains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39" y="2359152"/>
            <a:ext cx="1554480" cy="457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883663"/>
            <a:ext cx="201168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A43"/>
                </a:solidFill>
                <a:latin typeface="Segoe UI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1883663"/>
            <a:ext cx="26974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6FB2"/>
                </a:solidFill>
                <a:latin typeface="Segoe UI"/>
              </a:rPr>
              <a:t>I will stay home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39" y="2359152"/>
            <a:ext cx="2697480" cy="45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16752" y="1883663"/>
            <a:ext cx="201168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02A43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39" y="2450591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7B1D"/>
                </a:solidFill>
                <a:latin typeface="Segoe UI"/>
              </a:rP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2450591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6FB2"/>
                </a:solidFill>
                <a:latin typeface="Segoe UI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277977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277977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779776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7388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920239"/>
            <a:ext cx="10972" cy="114300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13448" y="2130551"/>
            <a:ext cx="155448" cy="1554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2048255"/>
            <a:ext cx="3925519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07B1D"/>
                </a:solidFill>
                <a:latin typeface="Segoe UI"/>
              </a:rPr>
              <a:t>hypothesis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also called the  premise  or  antecedent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3448" y="2697479"/>
            <a:ext cx="155448" cy="1554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615184"/>
            <a:ext cx="3925519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F6FB2"/>
                </a:solidFill>
                <a:latin typeface="Segoe UI"/>
              </a:rPr>
              <a:t>conclusion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also called the  consequence  or  consequent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364991"/>
            <a:ext cx="1087495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A43"/>
                </a:solidFill>
                <a:latin typeface="Segoe UI"/>
              </a:rPr>
              <a:t>A warning: logic does not need cause and effect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30752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3730752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“If Juan has a smartphone, then 2 + 3 = 5.”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831336"/>
            <a:ext cx="914400" cy="365760"/>
          </a:xfrm>
          <a:prstGeom prst="roundRect">
            <a:avLst>
              <a:gd name="adj" fmla="val 22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3730752"/>
            <a:ext cx="401695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7388"/>
                </a:solidFill>
                <a:latin typeface="Segoe UI"/>
              </a:rPr>
              <a:t>The conclusion is true, so the whole thing is true.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70832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4370832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“If 1 &gt; 2, then I am the President of Bangladesh.”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4471416"/>
            <a:ext cx="914400" cy="365760"/>
          </a:xfrm>
          <a:prstGeom prst="roundRect">
            <a:avLst>
              <a:gd name="adj" fmla="val 22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4370832"/>
            <a:ext cx="401695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7388"/>
                </a:solidFill>
                <a:latin typeface="Segoe UI"/>
              </a:rPr>
              <a:t>The hypothesis is false, so nothing is promised.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010912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5010912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“If the sun rises in the east, then 2 + 2 = 5.”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5111496"/>
            <a:ext cx="914400" cy="365760"/>
          </a:xfrm>
          <a:prstGeom prst="roundRect">
            <a:avLst>
              <a:gd name="adj" fmla="val 22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23B2E"/>
                </a:solidFill>
                <a:latin typeface="Segoe UI"/>
              </a:rPr>
              <a:t>FALSE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5010912"/>
            <a:ext cx="401695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7388"/>
                </a:solidFill>
                <a:latin typeface="Segoe UI"/>
              </a:rPr>
              <a:t>True hypothesis, false conclusion — the only failing case.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687568"/>
            <a:ext cx="10874959" cy="493776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8368" y="5687568"/>
            <a:ext cx="64008" cy="493776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687568"/>
            <a:ext cx="10417759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In English we expect a connection. In logic there is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only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the truth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READING  P → Q  IN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Necessary and sufficient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120700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78407" y="1901952"/>
            <a:ext cx="64008" cy="7315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295" y="1901952"/>
            <a:ext cx="4385919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F07B1D"/>
                </a:solidFill>
                <a:latin typeface="Segoe UI"/>
              </a:rPr>
              <a:t>The hypothesis is SUFFICIENT for the conclusion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happening is enough to guarantee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901952"/>
            <a:ext cx="64008" cy="7315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7055" y="1901952"/>
            <a:ext cx="4385919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1F6FB2"/>
                </a:solidFill>
                <a:latin typeface="Segoe UI"/>
              </a:rPr>
              <a:t>The conclusion is NECESSARY for the hypothesis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without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simply cannot happen.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1752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Three “if … then …”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19856"/>
            <a:ext cx="10874959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54787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“If a number is divisible by 4, then it is even.”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Cambria Math"/>
              </a:rPr>
              <a:t>d → e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8" y="3621024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547872"/>
            <a:ext cx="48856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being divisible by 4 is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sufficient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for being even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8" y="3995928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3922776"/>
            <a:ext cx="48856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being even is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necessary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for being divisible by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70831"/>
            <a:ext cx="10874959" cy="859536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498847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“If a shape is a square, then it is a rectangle.”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Cambria Math"/>
              </a:rPr>
              <a:t>s → r</a:t>
            </a:r>
          </a:p>
        </p:txBody>
      </p:sp>
      <p:sp>
        <p:nvSpPr>
          <p:cNvPr id="22" name="Oval 21"/>
          <p:cNvSpPr/>
          <p:nvPr/>
        </p:nvSpPr>
        <p:spPr>
          <a:xfrm>
            <a:off x="6099048" y="4571999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498847"/>
            <a:ext cx="48856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being a square is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sufficient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for being a rectangle</a:t>
            </a:r>
          </a:p>
        </p:txBody>
      </p:sp>
      <p:sp>
        <p:nvSpPr>
          <p:cNvPr id="24" name="Oval 23"/>
          <p:cNvSpPr/>
          <p:nvPr/>
        </p:nvSpPr>
        <p:spPr>
          <a:xfrm>
            <a:off x="6099048" y="4946903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4873751"/>
            <a:ext cx="48856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being a rectangle is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necessary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for being a square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21808"/>
            <a:ext cx="10874959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544982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“If you are enrolled in CSE 2213, then you are a UIU student.”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Cambria Math"/>
              </a:rPr>
              <a:t>c → u</a:t>
            </a:r>
          </a:p>
        </p:txBody>
      </p:sp>
      <p:sp>
        <p:nvSpPr>
          <p:cNvPr id="28" name="Oval 27"/>
          <p:cNvSpPr/>
          <p:nvPr/>
        </p:nvSpPr>
        <p:spPr>
          <a:xfrm>
            <a:off x="6099048" y="5522976"/>
            <a:ext cx="128016" cy="128016"/>
          </a:xfrm>
          <a:prstGeom prst="ellipse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5449824"/>
            <a:ext cx="48856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being enrolled is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sufficient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for being a UIU student</a:t>
            </a:r>
          </a:p>
        </p:txBody>
      </p:sp>
      <p:sp>
        <p:nvSpPr>
          <p:cNvPr id="30" name="Oval 29"/>
          <p:cNvSpPr/>
          <p:nvPr/>
        </p:nvSpPr>
        <p:spPr>
          <a:xfrm>
            <a:off x="6099048" y="5897880"/>
            <a:ext cx="128016" cy="128016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5824728"/>
            <a:ext cx="48856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being a UIU student is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necessary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for being enrolled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READ THIS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Trap #1  —  “only if”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664207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664207"/>
            <a:ext cx="74066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“ You will pass  only if  you study. 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78608"/>
            <a:ext cx="5163159" cy="13716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7" y="2724911"/>
            <a:ext cx="4523079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23B2E"/>
                </a:solidFill>
                <a:latin typeface="Segoe UI"/>
              </a:rPr>
              <a:t>✗   What students write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C23B2E"/>
                </a:solidFill>
                <a:latin typeface="Cambria Math"/>
              </a:rPr>
              <a:t>study → pass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7388"/>
                </a:solidFill>
                <a:latin typeface="Segoe UI"/>
              </a:rPr>
              <a:t>“study and you will pass” — nobody promised that!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0167" y="2578608"/>
            <a:ext cx="5163159" cy="13716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0207" y="2724911"/>
            <a:ext cx="4523079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E8F7E"/>
                </a:solidFill>
                <a:latin typeface="Segoe UI"/>
              </a:rPr>
              <a:t>✓   What it really means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E8F7E"/>
                </a:solidFill>
                <a:latin typeface="Cambria Math"/>
              </a:rPr>
              <a:t>pass → study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F7388"/>
                </a:solidFill>
                <a:latin typeface="Segoe UI"/>
              </a:rPr>
              <a:t>“if you passed, then you must have studied”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59935"/>
            <a:ext cx="10874959" cy="77724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4059935"/>
            <a:ext cx="64008" cy="7772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59935"/>
            <a:ext cx="10417759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B2D3E"/>
                </a:solidFill>
                <a:latin typeface="Segoe UI"/>
              </a:rPr>
              <a:t>The rule: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 “</a:t>
            </a:r>
            <a:r>
              <a:rPr sz="16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only if </a:t>
            </a:r>
            <a:r>
              <a:rPr sz="16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”   means   </a:t>
            </a:r>
            <a:r>
              <a:rPr sz="165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1B2D3E"/>
                </a:solidFill>
                <a:latin typeface="Segoe UI"/>
              </a:rPr>
              <a:t>“Only if” marks what is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necessary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, and the necessary part goes on the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right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of the arrow.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95604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More of the same shape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58383"/>
            <a:ext cx="10874959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358383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“You can graduate only if you clear all dues.”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5358383"/>
            <a:ext cx="355975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graduate → dues cleared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852159"/>
            <a:ext cx="10874959" cy="45720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852159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“The lab opens only if a teacher is present.”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5852159"/>
            <a:ext cx="355975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lab opens → teacher present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TRAP #1, CHECKED LINE BY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Truth table of  “only if”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7"/>
            <a:ext cx="101434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“ You will pass  only if  you study. ”     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: you pass     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: you study        so the claim is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2670048"/>
            <a:ext cx="1005840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9968" y="2670048"/>
            <a:ext cx="1005840" cy="457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2670048"/>
            <a:ext cx="1156716" cy="4572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 Math"/>
              </a:rPr>
              <a:t>p → 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127248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127248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5808" y="3127248"/>
            <a:ext cx="1156716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3547872"/>
            <a:ext cx="100584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9968" y="3547872"/>
            <a:ext cx="100584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35808" y="3547872"/>
            <a:ext cx="1156716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3968496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3968496"/>
            <a:ext cx="10058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35808" y="3968496"/>
            <a:ext cx="1156716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" y="4389120"/>
            <a:ext cx="100584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9968" y="4389120"/>
            <a:ext cx="1005840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5808" y="4389120"/>
            <a:ext cx="1156716" cy="420624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12564" y="3337560"/>
            <a:ext cx="365759" cy="0"/>
          </a:xfrm>
          <a:prstGeom prst="line">
            <a:avLst/>
          </a:prstGeom>
          <a:ln w="15875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15483" y="3090672"/>
            <a:ext cx="651784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You passed and you studied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323" y="3090672"/>
            <a:ext cx="322600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the claim holds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12564" y="3758184"/>
            <a:ext cx="365759" cy="0"/>
          </a:xfrm>
          <a:prstGeom prst="line">
            <a:avLst/>
          </a:prstGeom>
          <a:ln w="15875">
            <a:solidFill>
              <a:srgbClr val="C23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15483" y="3511296"/>
            <a:ext cx="651784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23B2E"/>
                </a:solidFill>
                <a:latin typeface="Segoe UI"/>
              </a:rPr>
              <a:t>You passed but never studied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323" y="3511296"/>
            <a:ext cx="322600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this is the one way to break 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12564" y="4178808"/>
            <a:ext cx="365759" cy="0"/>
          </a:xfrm>
          <a:prstGeom prst="line">
            <a:avLst/>
          </a:prstGeom>
          <a:ln w="15875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15483" y="3931920"/>
            <a:ext cx="651784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You did not pass, but you studied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7323" y="3931920"/>
            <a:ext cx="322600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the claim said nothing about this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12564" y="4599432"/>
            <a:ext cx="365759" cy="0"/>
          </a:xfrm>
          <a:prstGeom prst="line">
            <a:avLst/>
          </a:prstGeom>
          <a:ln w="15875">
            <a:solidFill>
              <a:srgbClr val="D7E1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15483" y="4352544"/>
            <a:ext cx="651784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You did not pass and never studied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7323" y="4352544"/>
            <a:ext cx="3226003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F7388"/>
                </a:solidFill>
                <a:latin typeface="Segoe UI"/>
              </a:rPr>
              <a:t>the claim said nothing about this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065776"/>
            <a:ext cx="10874959" cy="749808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" y="5065776"/>
            <a:ext cx="64008" cy="7498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065776"/>
            <a:ext cx="10417759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Exactly the same table as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if p, then 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that is the whole point: “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only if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”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is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Note row 3: you studied and still did not pass, and the sentence is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still true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 Studying was never a promise of passing.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READ THIS TWICE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Trap #2  —  “unless”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664207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664207"/>
            <a:ext cx="74066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“ The alarm will ring  unless  you enter the PIN. 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78608"/>
            <a:ext cx="10874959" cy="80467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578608"/>
            <a:ext cx="64008" cy="80467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78608"/>
            <a:ext cx="10417759" cy="8046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B2D3E"/>
                </a:solidFill>
                <a:latin typeface="Segoe UI"/>
              </a:rPr>
              <a:t>The rule: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 “</a:t>
            </a:r>
            <a:r>
              <a:rPr sz="1700" b="1">
                <a:solidFill>
                  <a:srgbClr val="1F6FB2"/>
                </a:solidFill>
                <a:latin typeface="Cambria Math"/>
              </a:rPr>
              <a:t>A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unless </a:t>
            </a:r>
            <a:r>
              <a:rPr sz="1700" b="1">
                <a:solidFill>
                  <a:srgbClr val="1F6FB2"/>
                </a:solidFill>
                <a:latin typeface="Cambria Math"/>
              </a:rPr>
              <a:t>B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”   means   </a:t>
            </a:r>
            <a:r>
              <a:rPr sz="1700" b="1">
                <a:solidFill>
                  <a:srgbClr val="1F6FB2"/>
                </a:solidFill>
                <a:latin typeface="Cambria Math"/>
              </a:rPr>
              <a:t>¬B → A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1B2D3E"/>
                </a:solidFill>
                <a:latin typeface="Segoe UI"/>
              </a:rPr>
              <a:t>Read it as:  </a:t>
            </a:r>
            <a:r>
              <a:rPr sz="1600" b="0" i="1">
                <a:solidFill>
                  <a:srgbClr val="1B2D3E"/>
                </a:solidFill>
                <a:latin typeface="Segoe UI"/>
              </a:rPr>
              <a:t>if B does not happen, then A happens.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93008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02A43"/>
                </a:solidFill>
                <a:latin typeface="Segoe UI"/>
              </a:rPr>
              <a:t>Step by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58768"/>
            <a:ext cx="10874959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7" y="393192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858768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Name the parts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3858768"/>
            <a:ext cx="740023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a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: the alarm rings      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: you enter the PIN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62272"/>
            <a:ext cx="10874959" cy="53035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7" y="453542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462272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Find A and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4462272"/>
            <a:ext cx="740023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A = the alarm rings      B = you enter the PIN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065776"/>
            <a:ext cx="10874959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7" y="513892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5065776"/>
            <a:ext cx="23774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02A43"/>
                </a:solidFill>
                <a:latin typeface="Segoe UI"/>
              </a:rPr>
              <a:t>Apply the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5065776"/>
            <a:ext cx="740023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¬p → a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  —   if you do not enter the PIN, the alarm rings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24144"/>
            <a:ext cx="10874959" cy="566928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5724144"/>
            <a:ext cx="64008" cy="56692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724144"/>
            <a:ext cx="1041775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Quick test:  “You will fail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unless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you study.”  →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¬study → fail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 It never says what happens if you </a:t>
            </a:r>
            <a:r>
              <a:rPr sz="1500" b="0" i="1">
                <a:solidFill>
                  <a:srgbClr val="1B2D3E"/>
                </a:solidFill>
                <a:latin typeface="Segoe UI"/>
              </a:rPr>
              <a:t>do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study.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NECESSARY &amp; SUFFICIENT,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The two traps — which part is necessary?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51860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5186019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901952"/>
            <a:ext cx="4545939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“You will pass only if you study.”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F07B1D"/>
                </a:solidFill>
                <a:latin typeface="Cambria Math"/>
              </a:rPr>
              <a:t>pass → study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●  passing is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sufficient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to conclude that you studied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studying is necessary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for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7307" y="1664207"/>
            <a:ext cx="51860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47307" y="1664207"/>
            <a:ext cx="5186019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7347" y="1901952"/>
            <a:ext cx="4545939" cy="1691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02A43"/>
                </a:solidFill>
                <a:latin typeface="Segoe UI"/>
              </a:rPr>
              <a:t>“The alarm will ring unless you enter the PIN.”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1F6FB2"/>
                </a:solidFill>
                <a:latin typeface="Cambria Math"/>
              </a:rPr>
              <a:t>¬PIN → alarm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●  not entering the PIN is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sufficient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for the alarm to 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● 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the alarm ringing is necessary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for not entering the PIN — so a silent alarm means you did enter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877056"/>
            <a:ext cx="10874959" cy="42062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877056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English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877056"/>
            <a:ext cx="192024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 symbols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3877056"/>
            <a:ext cx="20116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Sufficient 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3877056"/>
            <a:ext cx="319399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Necessary part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297679"/>
            <a:ext cx="1087495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297679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if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, then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29767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4728" y="429767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297679"/>
            <a:ext cx="31939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54879"/>
            <a:ext cx="10874959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754879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only if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75487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4728" y="475487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4754879"/>
            <a:ext cx="31939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12079"/>
            <a:ext cx="1087495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5212079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A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unless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8728" y="521207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¬B →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5212079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¬B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5212079"/>
            <a:ext cx="3193999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6FB2"/>
                </a:solidFill>
                <a:latin typeface="Cambria Math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97296"/>
            <a:ext cx="10874959" cy="493776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5797296"/>
            <a:ext cx="64008" cy="493776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797296"/>
            <a:ext cx="10417759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The arrow always runs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sufficient → necessary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 Find which part is necessary and the arrow writes itself.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ENGLISH IS SLIPPERY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Fourteen ways to say  p → q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if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, then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31136"/>
            <a:ext cx="5208879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231136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if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06624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706624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implies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182112"/>
            <a:ext cx="5208879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182112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if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657600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657600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when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133087"/>
            <a:ext cx="5208879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133087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whenever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608576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608576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follows from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1755648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98767" y="1755648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only if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2231136"/>
            <a:ext cx="5208879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98767" y="2231136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unless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¬p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447" y="2706624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8767" y="2706624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provided that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4447" y="3182112"/>
            <a:ext cx="5208879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98767" y="3182112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is sufficient for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3657600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98767" y="3657600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a sufficient condition for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4447" y="4133087"/>
            <a:ext cx="5208879" cy="42062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98767" y="4133087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is necessary for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4447" y="4608576"/>
            <a:ext cx="5208879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98767" y="4608576"/>
            <a:ext cx="4751679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a necessary condition for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p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30368"/>
            <a:ext cx="10874959" cy="86868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64008" cy="86868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230368"/>
            <a:ext cx="10417759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All fourteen have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the same truth table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 Do not memorise the list — memorise the two traps: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only if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” → what follows it is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necessary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·  “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unless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” →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(what follows it)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→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the rest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Two more exam words: “except” and “otherwise”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518601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7"/>
            <a:ext cx="5186019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901952"/>
            <a:ext cx="4545939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F07B1D"/>
                </a:solidFill>
                <a:latin typeface="Segoe UI"/>
              </a:rPr>
              <a:t>“except”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“I do homework every day except Sunday.”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Cambria Math"/>
              </a:rPr>
              <a:t>s</a:t>
            </a:r>
            <a:r>
              <a:rPr sz="1350" b="0" i="0">
                <a:solidFill>
                  <a:srgbClr val="5F7388"/>
                </a:solidFill>
                <a:latin typeface="Segoe UI"/>
              </a:rPr>
              <a:t> : today is Sunday        </a:t>
            </a:r>
            <a:r>
              <a:rPr sz="1450" b="1">
                <a:solidFill>
                  <a:srgbClr val="1F6FB2"/>
                </a:solidFill>
                <a:latin typeface="Cambria Math"/>
              </a:rPr>
              <a:t>h</a:t>
            </a:r>
            <a:r>
              <a:rPr sz="1350" b="0" i="0">
                <a:solidFill>
                  <a:srgbClr val="5F7388"/>
                </a:solidFill>
                <a:latin typeface="Segoe UI"/>
              </a:rPr>
              <a:t> : I do homework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Here it makes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two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claims at once: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●  not Sunday → I do homework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●  Sunday → I do not do homework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Cambria Math"/>
              </a:rPr>
              <a:t>(¬s → h) ∧ (s → ¬h)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7307" y="1664207"/>
            <a:ext cx="5186019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47307" y="1664207"/>
            <a:ext cx="5186019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7347" y="1901952"/>
            <a:ext cx="4545939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1F6FB2"/>
                </a:solidFill>
                <a:latin typeface="Segoe UI"/>
              </a:rPr>
              <a:t>“otherwise”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02A43"/>
                </a:solidFill>
                <a:latin typeface="Segoe UI"/>
              </a:rPr>
              <a:t>“If today is Sunday I watch TV; otherwise I do homework.”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Cambria Math"/>
              </a:rPr>
              <a:t>s</a:t>
            </a:r>
            <a:r>
              <a:rPr sz="1350" b="0" i="0">
                <a:solidFill>
                  <a:srgbClr val="5F7388"/>
                </a:solidFill>
                <a:latin typeface="Segoe UI"/>
              </a:rPr>
              <a:t> : today is Sunday    </a:t>
            </a:r>
            <a:r>
              <a:rPr sz="1450" b="1">
                <a:solidFill>
                  <a:srgbClr val="1F6FB2"/>
                </a:solidFill>
                <a:latin typeface="Cambria Math"/>
              </a:rPr>
              <a:t>t</a:t>
            </a:r>
            <a:r>
              <a:rPr sz="1350" b="0" i="0">
                <a:solidFill>
                  <a:srgbClr val="5F7388"/>
                </a:solidFill>
                <a:latin typeface="Segoe UI"/>
              </a:rPr>
              <a:t> : I watch TV    </a:t>
            </a:r>
            <a:r>
              <a:rPr sz="1450" b="1">
                <a:solidFill>
                  <a:srgbClr val="1F6FB2"/>
                </a:solidFill>
                <a:latin typeface="Cambria Math"/>
              </a:rPr>
              <a:t>h</a:t>
            </a:r>
            <a:r>
              <a:rPr sz="1350" b="0" i="0">
                <a:solidFill>
                  <a:srgbClr val="5F7388"/>
                </a:solidFill>
                <a:latin typeface="Segoe UI"/>
              </a:rPr>
              <a:t> : I do homework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“otherwise” covers the </a:t>
            </a:r>
            <a:r>
              <a:rPr sz="1350" b="1" i="0">
                <a:solidFill>
                  <a:srgbClr val="1B2D3E"/>
                </a:solidFill>
                <a:latin typeface="Segoe UI"/>
              </a:rPr>
              <a:t>other</a:t>
            </a:r>
            <a:r>
              <a:rPr sz="1350" b="0" i="0">
                <a:solidFill>
                  <a:srgbClr val="1B2D3E"/>
                </a:solidFill>
                <a:latin typeface="Segoe UI"/>
              </a:rPr>
              <a:t> branch: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●  Sunday → I watch TV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D3E"/>
                </a:solidFill>
                <a:latin typeface="Segoe UI"/>
              </a:rPr>
              <a:t>●  not Sunday → I do homework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FB2"/>
                </a:solidFill>
                <a:latin typeface="Cambria Math"/>
              </a:rPr>
              <a:t>(s → t) ∧ (¬s → 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63440"/>
            <a:ext cx="10874959" cy="731520"/>
          </a:xfrm>
          <a:prstGeom prst="roundRect">
            <a:avLst>
              <a:gd name="adj" fmla="val 8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4663440"/>
            <a:ext cx="64008" cy="7315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For sentences like these, work out </a:t>
            </a:r>
            <a:r>
              <a:rPr sz="1450" b="1" i="0">
                <a:solidFill>
                  <a:srgbClr val="1B2D3E"/>
                </a:solidFill>
                <a:latin typeface="Segoe UI"/>
              </a:rPr>
              <a:t>both possible cases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, write a conditional for each case, then join the two with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∧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Both words are regulars in the mid-term, and the usual slip is writing only one of the two branches.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559552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7" y="5559552"/>
            <a:ext cx="10234879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D3E"/>
                </a:solidFill>
                <a:latin typeface="Segoe UI"/>
              </a:rPr>
              <a:t>Try it:   “The shop opens every day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except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Friday.”       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f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: it is Friday, 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o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: the shop opens        →   </a:t>
            </a:r>
            <a:r>
              <a:rPr sz="1500" b="1">
                <a:solidFill>
                  <a:srgbClr val="1F6FB2"/>
                </a:solidFill>
                <a:latin typeface="Cambria Math"/>
              </a:rPr>
              <a:t>(¬f → o) ∧ (f → ¬o)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English  →  logic:  a working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2478709" cy="17830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18470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40863"/>
            <a:ext cx="202150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Underline the atomic facts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the smallest pieces that are true or false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7117" y="1664207"/>
            <a:ext cx="2478709" cy="17830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85717" y="18470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717" y="2340863"/>
            <a:ext cx="202150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Give each one a letter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always state what each letter means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1664207"/>
            <a:ext cx="2478709" cy="17830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84467" y="18470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4467" y="2340863"/>
            <a:ext cx="202150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Spot the connecting words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and / but / or / not / if / only if / unless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4617" y="1664207"/>
            <a:ext cx="2478709" cy="178308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83217" y="18470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3217" y="2340863"/>
            <a:ext cx="202150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02A43"/>
                </a:solidFill>
                <a:latin typeface="Segoe UI"/>
              </a:rPr>
              <a:t>Build the expression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F7388"/>
                </a:solidFill>
                <a:latin typeface="Segoe UI"/>
              </a:rPr>
              <a:t>add brackets so there is only one reading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30168"/>
            <a:ext cx="1087495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30168"/>
            <a:ext cx="10874959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3803904"/>
            <a:ext cx="10143439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6FB2"/>
                </a:solidFill>
                <a:latin typeface="Segoe UI"/>
              </a:rPr>
              <a:t>Worked example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102A43"/>
                </a:solidFill>
                <a:latin typeface="Segoe UI"/>
              </a:rPr>
              <a:t>“ You can access the lab, but you cannot take a laptop inside unless the teacher allows it. 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a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: You can access the lab.    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t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: You can take a laptop inside.    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w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: The teacher allows it.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5F7388"/>
                </a:solidFill>
                <a:latin typeface="Segoe UI"/>
              </a:rPr>
              <a:t>but</a:t>
            </a:r>
            <a:r>
              <a:rPr sz="1450" b="0" i="0">
                <a:solidFill>
                  <a:srgbClr val="5F7388"/>
                </a:solidFill>
                <a:latin typeface="Segoe UI"/>
              </a:rPr>
              <a:t> →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∧</a:t>
            </a:r>
            <a:r>
              <a:rPr sz="1450" b="0" i="0">
                <a:solidFill>
                  <a:srgbClr val="5F7388"/>
                </a:solidFill>
                <a:latin typeface="Segoe UI"/>
              </a:rPr>
              <a:t>    ·    “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¬t</a:t>
            </a:r>
            <a:r>
              <a:rPr sz="1450" b="0" i="0">
                <a:solidFill>
                  <a:srgbClr val="5F7388"/>
                </a:solidFill>
                <a:latin typeface="Segoe UI"/>
              </a:rPr>
              <a:t> </a:t>
            </a:r>
            <a:r>
              <a:rPr sz="1450" b="1" i="0">
                <a:solidFill>
                  <a:srgbClr val="5F7388"/>
                </a:solidFill>
                <a:latin typeface="Segoe UI"/>
              </a:rPr>
              <a:t>unless</a:t>
            </a:r>
            <a:r>
              <a:rPr sz="1450" b="0" i="0">
                <a:solidFill>
                  <a:srgbClr val="5F7388"/>
                </a:solidFill>
                <a:latin typeface="Segoe UI"/>
              </a:rPr>
              <a:t>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w</a:t>
            </a:r>
            <a:r>
              <a:rPr sz="1450" b="0" i="0">
                <a:solidFill>
                  <a:srgbClr val="5F7388"/>
                </a:solidFill>
                <a:latin typeface="Segoe UI"/>
              </a:rPr>
              <a:t>” →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¬w → ¬t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6FB2"/>
                </a:solidFill>
                <a:latin typeface="Segoe UI"/>
              </a:rPr>
              <a:t>Answer:    </a:t>
            </a:r>
            <a:r>
              <a:rPr sz="2000" b="1">
                <a:solidFill>
                  <a:srgbClr val="1F6FB2"/>
                </a:solidFill>
                <a:latin typeface="Cambria Math"/>
              </a:rPr>
              <a:t>a ∧ (¬w → ¬t)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More worked translations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658368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7"/>
            <a:ext cx="10143439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6FB2"/>
                </a:solidFill>
                <a:latin typeface="Cambria Math"/>
              </a:rPr>
              <a:t>m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 : The library is open.    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c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 : You have a library card.    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f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 : You have an overdue fine.     </a:t>
            </a:r>
            <a:r>
              <a:rPr sz="1550" b="1">
                <a:solidFill>
                  <a:srgbClr val="1F6FB2"/>
                </a:solidFill>
                <a:latin typeface="Cambria Math"/>
              </a:rPr>
              <a:t>b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 : You can borrow a 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32887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7" y="2743199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660903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“You can borrow a book only if you have a library card and you have no overdue fine.”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“only if” → the right side is necessary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532887"/>
            <a:ext cx="319399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FB2"/>
                </a:solidFill>
                <a:latin typeface="Cambria Math"/>
              </a:rPr>
              <a:t>b → (c ∧ ¬f)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65575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7" y="3675887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593591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“The library is open, but you cannot borrow a book.”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“but” is just “and”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465575"/>
            <a:ext cx="319399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FB2"/>
                </a:solidFill>
                <a:latin typeface="Cambria Math"/>
              </a:rPr>
              <a:t>m ∧ ¬b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98264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7" y="4608576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526279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“You cannot borrow a book unless the library is open.”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“A unless B” → </a:t>
            </a:r>
            <a:r>
              <a:rPr sz="1300" b="1">
                <a:solidFill>
                  <a:srgbClr val="1F6FB2"/>
                </a:solidFill>
                <a:latin typeface="Cambria Math"/>
              </a:rPr>
              <a:t>¬B →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4398264"/>
            <a:ext cx="319399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FB2"/>
                </a:solidFill>
                <a:latin typeface="Cambria Math"/>
              </a:rPr>
              <a:t>¬m → ¬b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30952"/>
            <a:ext cx="10874959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7" y="5541264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5458968"/>
            <a:ext cx="630936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B2D3E"/>
                </a:solidFill>
                <a:latin typeface="Segoe UI"/>
              </a:rPr>
              <a:t>“Whenever you have an overdue fine, you cannot borrow a book.”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“q whenever p” → </a:t>
            </a:r>
            <a:r>
              <a:rPr sz="1300" b="1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5330952"/>
            <a:ext cx="3193999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6FB2"/>
                </a:solidFill>
                <a:latin typeface="Cambria Math"/>
              </a:rPr>
              <a:t>f → ¬b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TAKE-HOME PRACTICE · EXAM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7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7"/>
            <a:ext cx="10143439" cy="7132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: The museum is open.  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: Visitors need a ticket.  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r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 : The exhibition is crowded.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7" y="2670048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60320"/>
            <a:ext cx="9686239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The museum is open, but visitors do not need a ticket unless the exhibition is crowded.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7" y="3383280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ii.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273552"/>
            <a:ext cx="9686239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The exhibition is not crowded whenever the museum is closed.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86783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7" y="4096511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iii.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986783"/>
            <a:ext cx="9686239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Visitors need a ticket only if the museum is open and the exhibition is crowded.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00016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7" y="4809744"/>
            <a:ext cx="566928" cy="40233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Segoe UI"/>
              </a:rPr>
              <a:t>iv.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700016"/>
            <a:ext cx="9686239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Either the museum is open or the exhibition is crowded — but not both.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4959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What you should walk out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2471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7388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9536" y="192024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828800"/>
            <a:ext cx="9777679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A proposition is a declarative sentence with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exactly one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truth value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questions, orders and sentences with a free variable do not qualify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9536" y="270662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15184"/>
            <a:ext cx="9777679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Five connectives: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∧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∨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⊕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→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“but” means </a:t>
            </a:r>
            <a:r>
              <a:rPr sz="1300" b="1">
                <a:solidFill>
                  <a:srgbClr val="1F6FB2"/>
                </a:solidFill>
                <a:latin typeface="Cambria Math"/>
              </a:rPr>
              <a:t>∧</a:t>
            </a:r>
            <a:r>
              <a:rPr sz="1200" b="0" i="0">
                <a:solidFill>
                  <a:srgbClr val="5F7388"/>
                </a:solidFill>
                <a:latin typeface="Segoe UI"/>
              </a:rPr>
              <a:t>  ·  “or, but not both” means </a:t>
            </a:r>
            <a:r>
              <a:rPr sz="1300" b="1">
                <a:solidFill>
                  <a:srgbClr val="1F6FB2"/>
                </a:solidFill>
                <a:latin typeface="Cambria Math"/>
              </a:rPr>
              <a:t>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28415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9536" y="349300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401568"/>
            <a:ext cx="9777679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false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only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when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true and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false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and a truth table with n variables always has 2ⁿ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14800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9536" y="427939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187952"/>
            <a:ext cx="9777679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In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sufficient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for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and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is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necessary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for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the arrow runs from the sufficient part to the necessary part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01183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6" y="5065775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974336"/>
            <a:ext cx="9777679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only if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” is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p →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, and “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A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unless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B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” is </a:t>
            </a:r>
            <a:r>
              <a:rPr sz="1600" b="1">
                <a:solidFill>
                  <a:srgbClr val="1F6FB2"/>
                </a:solidFill>
                <a:latin typeface="Cambria Math"/>
              </a:rPr>
              <a:t>¬B → A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7388"/>
                </a:solidFill>
                <a:latin typeface="Segoe UI"/>
              </a:rPr>
              <a:t>these two are where most exam marks are lost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05856"/>
            <a:ext cx="10874959" cy="530352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5705856"/>
            <a:ext cx="64008" cy="530352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705856"/>
            <a:ext cx="1041775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1B2D3E"/>
                </a:solidFill>
                <a:latin typeface="Segoe UI"/>
              </a:rPr>
              <a:t>Read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Rosen, Section 1.1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tonight — nine pages, and you have already seen most of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25535" y="-1371600"/>
            <a:ext cx="4937760" cy="4937760"/>
          </a:xfrm>
          <a:prstGeom prst="ellipse">
            <a:avLst/>
          </a:prstGeom>
          <a:solidFill>
            <a:srgbClr val="173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62895" y="4206240"/>
            <a:ext cx="2926080" cy="2926080"/>
          </a:xfrm>
          <a:prstGeom prst="ellipse">
            <a:avLst/>
          </a:prstGeom>
          <a:solidFill>
            <a:srgbClr val="15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3268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BFD4E6"/>
                </a:solidFill>
                <a:latin typeface="Segoe UI"/>
              </a:rPr>
              <a:t>Questions are always welcome — now, after class, or by email.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77639"/>
            <a:ext cx="1280160" cy="457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4282</Words>
  <Application>Microsoft Office PowerPoint</Application>
  <PresentationFormat>Widescreen</PresentationFormat>
  <Paragraphs>675</Paragraphs>
  <Slides>30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2005067 - Masnoon Muztahid</cp:lastModifiedBy>
  <cp:revision>6</cp:revision>
  <dcterms:created xsi:type="dcterms:W3CDTF">2013-01-27T09:14:16Z</dcterms:created>
  <dcterms:modified xsi:type="dcterms:W3CDTF">2026-10-28T14:13:26Z</dcterms:modified>
  <cp:category/>
</cp:coreProperties>
</file>