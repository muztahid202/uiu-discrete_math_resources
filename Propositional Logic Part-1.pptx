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6" r:id="rId37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736" autoAdjust="0"/>
  </p:normalViewPr>
  <p:slideViewPr>
    <p:cSldViewPr snapToGrid="0" snapToObjects="1">
      <p:cViewPr varScale="1">
        <p:scale>
          <a:sx n="78" d="100"/>
          <a:sy n="78" d="100"/>
        </p:scale>
        <p:origin x="7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BE1C7F-8531-4500-8F91-F3FAB5C6CE10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5A739B-3D4C-4FDB-933A-DB657C44A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89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Answers: i) p ∧ (¬r → ¬q)   ii) ¬p → ¬r   iii) q → (p ∧ r)   iv) p ⊕ r. Do not give these away — ask for them at the start of the next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25535" y="-1371600"/>
            <a:ext cx="4937760" cy="493776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51560" y="658368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77724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214884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CSE 2213  ·  DISCRETE MATHEMATICS  ·  LECTURE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Propositional Logic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BFD4E6"/>
                </a:solidFill>
                <a:latin typeface="Segoe UI"/>
              </a:rPr>
              <a:t>Rosen, 8th edition  ·  Section 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709160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9834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Lecturer, Department of CSE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United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Today we teach a machine to reason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82495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82495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82495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computer cannot understand </a:t>
            </a:r>
            <a:r>
              <a:rPr sz="1600" b="0" i="1">
                <a:solidFill>
                  <a:srgbClr val="1B2D3E"/>
                </a:solidFill>
                <a:latin typeface="Segoe UI"/>
              </a:rPr>
              <a:t>maybe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 Before it can decide anything, we must write our sentences so that each one is either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or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— nothing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2715768"/>
            <a:ext cx="24444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86968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Proposition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a sentence that is true or false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6679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854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68547" y="2715768"/>
            <a:ext cx="24444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69714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714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Symbols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replace the sentence by a letter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697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7872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2715768"/>
            <a:ext cx="2444419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0732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Connectives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five symbols:  ¬ ,  ∧ ,  ∨ ,  ⊕ ,  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8715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8890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88907" y="2715768"/>
            <a:ext cx="2444419" cy="64008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31750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50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Translation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English  →  logic, and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700016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Why bother?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138927"/>
            <a:ext cx="10874959" cy="10789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if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statement you will ever write is a piece of propositional logic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circuit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inside a processor is a logical expression made of gates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proof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you write this trimester starts from these five symbols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is a proposition?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>
                <a:solidFill>
                  <a:srgbClr val="1B2D3E"/>
                </a:solidFill>
                <a:latin typeface="Segoe UI"/>
              </a:rPr>
              <a:t>A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proposition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is a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declarative sentence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that is either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or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, but not both.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It must pass three tests: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It declares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it states a fact, it does not ask or 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5274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1306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It can be judged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we can call it true or false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2180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08212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Exactly one value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never both, never neither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133087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These are propositions: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44568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4544568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Dhaka is the capital of Bangladesh.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38547" y="4663440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1587" y="4544568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0187" y="4544568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2 + 2 =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81767" y="4663440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02936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" y="5202936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sun rises in the west.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38547" y="5321807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1587" y="5202936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0187" y="5202936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 even number is divisible by 3.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81767" y="5321807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The value  T  or  F  of a proposition is called its truth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OTHER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is NOT a proposition?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874519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175564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“What time is the class?”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75564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 question — it declares nothing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59536" y="2606039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48716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“Close the door.”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48716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An order — nothing to judge true or false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1868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9536" y="333756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321868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“Please help me.”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7" y="321868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 request — same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5020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406908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395020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“x + 1 = 5”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395020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We cannot decide without knowing 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8172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59536" y="480060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C2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468172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“This sentence is false.”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7" y="468172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Both true and false at once — see next slide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040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550408"/>
            <a:ext cx="64008" cy="640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550408"/>
            <a:ext cx="104177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Notice: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x + 1 = 5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becomes a proposition the moment we fix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x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That idea grows into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predicates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in class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 FAMOUS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sentence that breaks logic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801367"/>
            <a:ext cx="6126480" cy="86868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0" y="1801367"/>
            <a:ext cx="576072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“ I am lying.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35808"/>
            <a:ext cx="5163159" cy="160020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7" y="3264408"/>
            <a:ext cx="452307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E8F7E"/>
                </a:solidFill>
                <a:latin typeface="Segoe UI"/>
              </a:rPr>
              <a:t>Suppose it is TRUE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Then I really am lying.
But then the sentence I said is a lie — so it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035808"/>
            <a:ext cx="5163159" cy="160020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90207" y="3264408"/>
            <a:ext cx="452307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Suppose it is FALSE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Then I am not lying.
So what I said is the truth — so it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6119" y="3584448"/>
            <a:ext cx="29260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986119" y="4087368"/>
            <a:ext cx="29260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4956048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" y="4956048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956048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Every assumption flips into its opposite. It can be neither true nor false — so it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not a proposition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This is the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Liar Paradox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and the same idea sits behind Gödel's theorems and the halting problem.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YOUR TURN · 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Quick check — proposition or not?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7" y="199339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4708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year 2026 has 365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184708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07327" y="199339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47" y="184708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Where is room 419?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67004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281635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267004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3 × 7 = 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447" y="267004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07327" y="281635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8847" y="267004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Submit your assignment by Sunday.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49300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63931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49300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 is an odd number.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7" y="349300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07327" y="363931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47" y="349300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Bangladesh won the 2011 Cricket World Cup.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361688"/>
            <a:ext cx="10874959" cy="6858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4361688"/>
            <a:ext cx="64008" cy="6858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361688"/>
            <a:ext cx="10417759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Ask yourself only one question: 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can I, in principle, label this sentence true or false?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 Not “do I know the answer” — just “does an answer exist?”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27608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102A43"/>
                </a:solidFill>
                <a:latin typeface="Segoe UI"/>
              </a:rPr>
              <a:t>Answers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dirty="0">
                <a:solidFill>
                  <a:srgbClr val="5F7388"/>
                </a:solidFill>
                <a:latin typeface="Segoe UI"/>
              </a:rPr>
              <a:t>(a) proposition — 2026 is a common year, so it is true.   (b) not — a question.   (c) proposition, false.   (d) not — an order.   (e) not — depends on n.   (f) proposition, </a:t>
            </a:r>
            <a:r>
              <a:rPr lang="en-US" sz="1350" dirty="0">
                <a:solidFill>
                  <a:srgbClr val="5F7388"/>
                </a:solidFill>
                <a:latin typeface="Segoe UI"/>
              </a:rPr>
              <a:t>false</a:t>
            </a:r>
            <a:r>
              <a:rPr sz="1350" b="0" i="0" dirty="0">
                <a:solidFill>
                  <a:srgbClr val="5F738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From sentences to symbols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4207"/>
            <a:ext cx="10874959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Writing the whole sentence every time is painful. So we name it with a letter.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66543"/>
            <a:ext cx="10874959" cy="98755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194560"/>
            <a:ext cx="1014343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Dhaka is the capital of Bangladesh.     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2 + 2 = 5.     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It is raining.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7388"/>
                </a:solidFill>
                <a:latin typeface="Segoe UI"/>
              </a:rPr>
              <a:t>We call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s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…  </a:t>
            </a:r>
            <a:r>
              <a:rPr sz="1500" b="1" i="0">
                <a:solidFill>
                  <a:srgbClr val="5F7388"/>
                </a:solidFill>
                <a:latin typeface="Segoe UI"/>
              </a:rPr>
              <a:t>propositional variables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.  Each one carries a </a:t>
            </a:r>
            <a:r>
              <a:rPr sz="1500" b="1" i="0">
                <a:solidFill>
                  <a:srgbClr val="5F7388"/>
                </a:solidFill>
                <a:latin typeface="Segoe UI"/>
              </a:rPr>
              <a:t>truth value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: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=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,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=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5186019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3108960"/>
            <a:ext cx="5186019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3346704"/>
            <a:ext cx="4545939" cy="23042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Atomic proposition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 proposition that does not contain any logical connective combining it with other propositions.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“I live in Dhaka.”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“The server is down.”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“7 is a prime number.”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7307" y="3108960"/>
            <a:ext cx="5186019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47307" y="3108960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67347" y="3346704"/>
            <a:ext cx="4545939" cy="23042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Compound proposition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 proposition formed by applying one or more logical connectives to one or more propositions.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Arif plays football, badminton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table tennis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Jonathon doesn’t play cricket,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plays football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Eliza likes programming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mathematics,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 not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physics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Rachel went to the park, the zoo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the movie theatre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It is raining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snowing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833872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5833872"/>
            <a:ext cx="64008" cy="47548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833872"/>
            <a:ext cx="10417759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truth value of a compound proposition is decided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by its parts and the connectives — never by the meaning of the words.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logical connectives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64207"/>
            <a:ext cx="10874959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664207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Symbol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664207"/>
            <a:ext cx="169163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1664207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Read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1664207"/>
            <a:ext cx="41083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True exactly when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121408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121408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07B1D"/>
                </a:solidFill>
                <a:latin typeface="Cambria Math"/>
              </a:rPr>
              <a:t>¬p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121408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Negation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2121408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“not p”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7" y="2121408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p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779776"/>
            <a:ext cx="10874959" cy="65836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2779776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6FB2"/>
                </a:solidFill>
                <a:latin typeface="Cambria Math"/>
              </a:rPr>
              <a:t>p ∧ 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2779776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Conjunction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2779776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and q”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2047" y="2779776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both p and q are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38144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" y="3438144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E8F7E"/>
                </a:solidFill>
                <a:latin typeface="Cambria Math"/>
              </a:rPr>
              <a:t>p ∨ 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3438144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Disjunction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3438144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or q”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7" y="3438144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at least one of them is true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096512"/>
            <a:ext cx="10874959" cy="65836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4096512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B4EA8"/>
                </a:solidFill>
                <a:latin typeface="Cambria Math"/>
              </a:rPr>
              <a:t>p ⊕ 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4096512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Exclusive 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4096512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or q, but not both”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7" y="4096512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exactly one of them is true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754879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4754879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Cambria Math"/>
              </a:rPr>
              <a:t>p → 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5688" y="4754879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Conditional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4754879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p, then q”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7" y="4754879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it is never the case that p is true and q is false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41848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58368" y="5641848"/>
            <a:ext cx="64008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One more —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biconditional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 ↔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waits for the next class. Master these five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Negation  —  ¬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negation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of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, written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, is the statement “it is not the case that p”. It simply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flips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the truth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¬p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852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7" y="4078223"/>
            <a:ext cx="206425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9906" y="2761487"/>
            <a:ext cx="771342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earth is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It is not the case that the earth is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plain English: 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The earth is not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1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, so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Negation takes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proposition. Every other connective below takes two.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Conjunction  —  ∧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∧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and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true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are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both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true.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∧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Messi is playing.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Argentina is winning.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∧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Messi is playing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Argentina is winning.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If Messi is playing but Argentina is losing, the whole sentence is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Watch for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but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however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yet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although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still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— in logic they all mean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 “The museum is open,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but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need a ticket”  →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m ∧ 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Disjunction  —  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or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false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when both are false — so one true part is enough.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∨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Calculus.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Programming.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Calculus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have taken Programming.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Taken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both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?  Still allowed.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This is the </a:t>
            </a:r>
            <a:r>
              <a:rPr sz="1500" b="1" i="0" dirty="0">
                <a:solidFill>
                  <a:srgbClr val="1B2D3E"/>
                </a:solidFill>
                <a:latin typeface="Segoe UI"/>
              </a:rPr>
              <a:t>inclusive or</a:t>
            </a:r>
            <a:r>
              <a:rPr sz="1500" b="0" i="0" dirty="0">
                <a:solidFill>
                  <a:srgbClr val="1B2D3E"/>
                </a:solidFill>
                <a:latin typeface="Segoe UI"/>
              </a:rPr>
              <a:t>:  “p, or q, or both”.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Exclusive or  —  ⊕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⊕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or q, but not both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true when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exactly one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of them is true.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⊕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soup.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salad.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⊕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soup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salad —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not both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Take both and you have broken the deal: 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Same English word “or”, two different meanings. The sentence — not the word — tells you which one to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∨ VERSUS 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Which “or” did they mean?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5163159" cy="96012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1709928"/>
            <a:ext cx="4523079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0E8F7E"/>
                </a:solidFill>
                <a:latin typeface="Segoe UI"/>
              </a:rPr>
              <a:t>Inclusive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∨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“at least one” — both is fine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1709928"/>
            <a:ext cx="5163159" cy="960120"/>
          </a:xfrm>
          <a:prstGeom prst="roundRect">
            <a:avLst>
              <a:gd name="adj" fmla="val 6000"/>
            </a:avLst>
          </a:prstGeom>
          <a:solidFill>
            <a:srgbClr val="F2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0207" y="1709928"/>
            <a:ext cx="4523079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6B4EA8"/>
                </a:solidFill>
                <a:latin typeface="Segoe UI"/>
              </a:rPr>
              <a:t>Exclusive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“exactly one” — both is not allowed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07208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2807208"/>
            <a:ext cx="64008" cy="676656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7" y="2807208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“Students who have taken Physics or Chemistry may apply.”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807208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8F7E"/>
                </a:solidFill>
                <a:latin typeface="Segoe UI"/>
              </a:rPr>
              <a:t>Both subjects? Even better.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57015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" y="3557015"/>
            <a:ext cx="64008" cy="676656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7" y="3557015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“The set menu comes with a drink or a dessert</a:t>
            </a:r>
            <a:r>
              <a:rPr lang="en-US" sz="1500" b="0" i="0">
                <a:solidFill>
                  <a:srgbClr val="1B2D3E"/>
                </a:solidFill>
                <a:latin typeface="Segoe UI"/>
              </a:rPr>
              <a:t>, but not </a:t>
            </a:r>
            <a:r>
              <a:rPr lang="en-US" sz="1500" b="0" i="0" dirty="0">
                <a:solidFill>
                  <a:srgbClr val="1B2D3E"/>
                </a:solidFill>
                <a:latin typeface="Segoe UI"/>
              </a:rPr>
              <a:t>both</a:t>
            </a:r>
            <a:r>
              <a:rPr sz="1500" b="0" i="0" dirty="0">
                <a:solidFill>
                  <a:srgbClr val="1B2D3E"/>
                </a:solidFill>
                <a:latin typeface="Segoe UI"/>
              </a:rPr>
              <a:t>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3557015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4EA8"/>
                </a:solidFill>
                <a:latin typeface="Segoe UI"/>
              </a:rPr>
              <a:t>You pick one, not both.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06824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4306824"/>
            <a:ext cx="64008" cy="676656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7" y="4306824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“The prize winner will receive either a gold medal or a silver medal, but not both.”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306824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4EA8"/>
                </a:solidFill>
                <a:latin typeface="Segoe UI"/>
              </a:rPr>
              <a:t>“but not both” says it outright.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56631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5056631"/>
            <a:ext cx="64008" cy="676656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7" y="5056631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“You need an ID card or a passport to enter.”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056631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8F7E"/>
                </a:solidFill>
                <a:latin typeface="Segoe UI"/>
              </a:rPr>
              <a:t>Carrying both is not a problem.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Rule of thumb: if doing both is impossible or forbidden, it is ⊕. Otherwise it is 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PUTTING THE CONNECTIVES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a compound proposition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compound proposition with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n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different variables needs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2ⁿ rows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— one for every combination of truth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1  ·  list every combination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35808"/>
            <a:ext cx="73152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81328" y="3035808"/>
            <a:ext cx="73152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74136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3374136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675887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675887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3977639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977639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279392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4279392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3081528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2 variables  →  4 rows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3 variables  →  8 rows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4 variables  →  16 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90288"/>
            <a:ext cx="374903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Always use the same order: the first column is half T then half F, and each next column halves the block again. That way no row is missed and no row is repeated.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2578608"/>
            <a:ext cx="67601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2  ·  build one column at a time  —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(p ∨ q) ∧ ¬r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7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5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3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39711" y="3035808"/>
            <a:ext cx="105156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 ∨ 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1271" y="3035808"/>
            <a:ext cx="82296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¬r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14232" y="3035808"/>
            <a:ext cx="1691640" cy="33832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(p ∨ q) ∧ ¬r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7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2975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1343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9711" y="3374136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91271" y="3374136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14232" y="3374136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7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975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3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1" y="3675887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1271" y="3675887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14232" y="3675887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7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975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1343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39711" y="3977639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1271" y="3977639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14232" y="3977639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64607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22975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1343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39711" y="4279392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91271" y="4279392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14232" y="4279392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64607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22975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81343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39711" y="4581144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91271" y="4581144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14232" y="4581144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64607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2975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1343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39711" y="4882896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91271" y="4882896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14232" y="4882896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64607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22975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81343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39711" y="5184648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91271" y="5184648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714232" y="5184648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64607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22975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81343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39711" y="5486400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91271" y="5486400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14232" y="5486400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64607" y="5797296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 three input columns  ·  then the pieces  ·  then the answer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PRACTICE · 3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Write it in symbols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1014343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Let: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F6FB2"/>
                </a:solidFill>
                <a:latin typeface="Cambria Math"/>
              </a:rPr>
              <a:t>c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The canteen is open.       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l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I bring lunch from home.       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I am hungry in class.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529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59536" y="3008376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852928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canteen is open and I did not bring lunch from home.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2852928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c ∧ ¬l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94176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9536" y="3849624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694176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Either the canteen is open or I bring lunch from home, but not both.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3694176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c ⊕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35424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9536" y="4690872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35424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 am hungry in class, and neither the canteen is open nor did I bring lunch.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535424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h ∧ ¬(c ∨ 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5896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5458968"/>
            <a:ext cx="64008" cy="6400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458968"/>
            <a:ext cx="104177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Brackets matter.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¬(c ∨ l)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says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neither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of them happened, while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¬c ∨ 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says something completely different.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Conditional statement  —  a promise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664207"/>
            <a:ext cx="7406640" cy="82296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60320" y="1664207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“ If it rains, I will stay home. 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15768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When have I broken my promise?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It rained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stayed home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Promise kept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714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It rained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went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Promise broken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732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No rain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stayed home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I promised nothing about this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890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1750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No rain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went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I promised nothing about this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67527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367527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367527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The promise is broken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in case 2 — rain came, I did not stay home.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When it does not rain the promise is simply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not tested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, so it still counts as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kept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CONDITIONAL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 p 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4980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false in exactly one case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:  </a:t>
            </a:r>
            <a:r>
              <a:rPr sz="18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true and </a:t>
            </a:r>
            <a:r>
              <a:rPr sz="18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false. In every other case it is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" y="2807208"/>
            <a:ext cx="105156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75688" y="2807208"/>
            <a:ext cx="105156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807208"/>
            <a:ext cx="1209293" cy="4572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p →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264408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5688" y="3264408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64408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685032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3685032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685032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105656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5688" y="4105656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27248" y="4105656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4526280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75688" y="4526280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4526280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65142" y="3474720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50942" y="3264408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It rained and I stayed home — </a:t>
            </a:r>
            <a:r>
              <a:rPr sz="1450" b="1" i="0">
                <a:solidFill>
                  <a:srgbClr val="5F7388"/>
                </a:solidFill>
                <a:latin typeface="Segoe UI"/>
              </a:rPr>
              <a:t>kept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65142" y="3895344"/>
            <a:ext cx="548639" cy="0"/>
          </a:xfrm>
          <a:prstGeom prst="line">
            <a:avLst/>
          </a:prstGeom>
          <a:ln w="15875">
            <a:solidFill>
              <a:srgbClr val="C23B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50942" y="3685032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23B2E"/>
                </a:solidFill>
                <a:latin typeface="Segoe UI"/>
              </a:rPr>
              <a:t>It rained and I went out — </a:t>
            </a:r>
            <a:r>
              <a:rPr sz="1450" b="1" i="0">
                <a:solidFill>
                  <a:srgbClr val="C23B2E"/>
                </a:solidFill>
                <a:latin typeface="Segoe UI"/>
              </a:rPr>
              <a:t>broken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65142" y="4315968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50942" y="4105656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No rain — promise never tested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65142" y="4736592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50942" y="4526280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No rain — promise never tested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0942" y="5266944"/>
            <a:ext cx="628238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Memory hook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conditional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innocent until proven guilty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You need a true hypothesis and a false conclusion to convict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358384"/>
            <a:ext cx="4043933" cy="68580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358384"/>
            <a:ext cx="64008" cy="6858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358384"/>
            <a:ext cx="3586733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 is also written 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p implies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ANATOMY OF  P →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Hypothesis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82495"/>
            <a:ext cx="10874959" cy="15544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5" y="1883663"/>
            <a:ext cx="36576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39" y="1883663"/>
            <a:ext cx="155448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07B1D"/>
                </a:solidFill>
                <a:latin typeface="Segoe UI"/>
              </a:rPr>
              <a:t>it rains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39" y="2359152"/>
            <a:ext cx="155448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0" y="1883663"/>
            <a:ext cx="201168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1883663"/>
            <a:ext cx="269748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F6FB2"/>
                </a:solidFill>
                <a:latin typeface="Segoe UI"/>
              </a:rPr>
              <a:t>I will stay home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39" y="2359152"/>
            <a:ext cx="2697480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16752" y="1883663"/>
            <a:ext cx="201168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39" y="2450591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2450591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B2"/>
                </a:solidFill>
                <a:latin typeface="Segoe UI"/>
              </a:rPr>
              <a:t>conclusion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797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2779776"/>
            <a:ext cx="26974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77977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7388"/>
                </a:solidFill>
                <a:latin typeface="Segoe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7688" y="1920239"/>
            <a:ext cx="10972" cy="114300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13448" y="2130551"/>
            <a:ext cx="155448" cy="1554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2048255"/>
            <a:ext cx="3925519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07B1D"/>
                </a:solidFill>
                <a:latin typeface="Segoe UI"/>
              </a:rPr>
              <a:t>hypothesis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also called the  premise  or  antecedent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3448" y="2697479"/>
            <a:ext cx="155448" cy="1554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0" y="2615184"/>
            <a:ext cx="3925519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1F6FB2"/>
                </a:solidFill>
                <a:latin typeface="Segoe UI"/>
              </a:rPr>
              <a:t>conclusion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also called the  consequence  or  consequent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364991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A warning: logic does not need cause and effect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73075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" y="373075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Juan has a smartphone, then 2 + 3 = 5.”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383133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7768" y="373075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The conclusion is true, so the whole thing is true.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7083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437083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1 &gt; 2, then I am the President of Bangladesh.”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47141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8" y="437083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The hypothesis is false, so nothing is promised.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01091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501091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the sun rises in the east, then 2 + 2 = 5.”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4768" y="511149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501091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True hypothesis, false conclusion — the only failing case.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687568"/>
            <a:ext cx="10874959" cy="49377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58368" y="5687568"/>
            <a:ext cx="64008" cy="49377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5687568"/>
            <a:ext cx="10417759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English we expect a connection. In logic there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the truth 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READING  P → Q  IN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Necessary and sufficient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120700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78407" y="1901952"/>
            <a:ext cx="64008" cy="7315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5295" y="1901952"/>
            <a:ext cx="438591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07B1D"/>
                </a:solidFill>
                <a:latin typeface="Segoe UI"/>
              </a:rPr>
              <a:t>The hypothesis is SUFFICIENT for the conclusion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happening is enough to guarantee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0167" y="1901952"/>
            <a:ext cx="64008" cy="7315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055" y="1901952"/>
            <a:ext cx="438591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6FB2"/>
                </a:solidFill>
                <a:latin typeface="Segoe UI"/>
              </a:rPr>
              <a:t>The conclusion is NECESSARY for the hypothesis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without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simply cannot happen.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17520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Three “if … then …”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19856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" y="3547872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a number is divisible by 4, then it is even.”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d → e</a:t>
            </a:r>
          </a:p>
        </p:txBody>
      </p:sp>
      <p:sp>
        <p:nvSpPr>
          <p:cNvPr id="16" name="Oval 15"/>
          <p:cNvSpPr/>
          <p:nvPr/>
        </p:nvSpPr>
        <p:spPr>
          <a:xfrm>
            <a:off x="6099048" y="3621024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3547872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divisible by 4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even</a:t>
            </a:r>
          </a:p>
        </p:txBody>
      </p:sp>
      <p:sp>
        <p:nvSpPr>
          <p:cNvPr id="18" name="Oval 17"/>
          <p:cNvSpPr/>
          <p:nvPr/>
        </p:nvSpPr>
        <p:spPr>
          <a:xfrm>
            <a:off x="6099048" y="3995928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3922776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even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divisible by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70831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498847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a shape is a square, then it is a rectangle.”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s → r</a:t>
            </a:r>
          </a:p>
        </p:txBody>
      </p:sp>
      <p:sp>
        <p:nvSpPr>
          <p:cNvPr id="22" name="Oval 21"/>
          <p:cNvSpPr/>
          <p:nvPr/>
        </p:nvSpPr>
        <p:spPr>
          <a:xfrm>
            <a:off x="6099048" y="4571999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498847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square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rectangle</a:t>
            </a:r>
          </a:p>
        </p:txBody>
      </p:sp>
      <p:sp>
        <p:nvSpPr>
          <p:cNvPr id="24" name="Oval 23"/>
          <p:cNvSpPr/>
          <p:nvPr/>
        </p:nvSpPr>
        <p:spPr>
          <a:xfrm>
            <a:off x="6099048" y="4946903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73751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rectangle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square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21808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5449824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you are enrolled in CSE 2213, then you are a UIU student.”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c → u</a:t>
            </a:r>
          </a:p>
        </p:txBody>
      </p:sp>
      <p:sp>
        <p:nvSpPr>
          <p:cNvPr id="28" name="Oval 27"/>
          <p:cNvSpPr/>
          <p:nvPr/>
        </p:nvSpPr>
        <p:spPr>
          <a:xfrm>
            <a:off x="6099048" y="5522976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3368" y="5449824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enrolled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UIU student</a:t>
            </a:r>
          </a:p>
        </p:txBody>
      </p:sp>
      <p:sp>
        <p:nvSpPr>
          <p:cNvPr id="30" name="Oval 29"/>
          <p:cNvSpPr/>
          <p:nvPr/>
        </p:nvSpPr>
        <p:spPr>
          <a:xfrm>
            <a:off x="6099048" y="5897880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5824728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UIU student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enrolled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 THIS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Trap #1  —  “only if”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64207"/>
            <a:ext cx="7772400" cy="77724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1664207"/>
            <a:ext cx="74066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“ You will pass  only if  you study.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78608"/>
            <a:ext cx="5163159" cy="137160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7" y="2724911"/>
            <a:ext cx="4523079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✗   What students write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C23B2E"/>
                </a:solidFill>
                <a:latin typeface="Cambria Math"/>
              </a:rPr>
              <a:t>study → pass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“study and you will pass” — nobody promised that!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578608"/>
            <a:ext cx="5163159" cy="137160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90207" y="2724911"/>
            <a:ext cx="4523079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0E8F7E"/>
                </a:solidFill>
                <a:latin typeface="Segoe UI"/>
              </a:rPr>
              <a:t>✓   What it really means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0E8F7E"/>
                </a:solidFill>
                <a:latin typeface="Cambria Math"/>
              </a:rPr>
              <a:t>pass → study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“if you passed, then you must have studied”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59935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4059935"/>
            <a:ext cx="64008" cy="7772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59935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B2D3E"/>
                </a:solidFill>
                <a:latin typeface="Segoe UI"/>
              </a:rPr>
              <a:t>The rule: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  “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”   means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“Only if” marks what is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, and the necessary part goes on the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right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of the arrow.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More of the same shape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58383"/>
            <a:ext cx="10874959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5358383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“You can graduate only if you clear all dues.”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5358383"/>
            <a:ext cx="355975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graduate → dues cleared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852159"/>
            <a:ext cx="10874959" cy="4572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5852159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“The lab opens only if a teacher is present.”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5852159"/>
            <a:ext cx="355975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lab opens → teacher present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TRAP #1, CHECKED LINE BY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 “only if”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“ You will pass  only if  you study. ”   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you pass   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you study        so the claim is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2670048"/>
            <a:ext cx="100584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29968" y="2670048"/>
            <a:ext cx="100584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35808" y="2670048"/>
            <a:ext cx="1156716" cy="4572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p → 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127248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127248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808" y="3127248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" y="3547872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29968" y="3547872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35808" y="3547872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" y="3968496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29968" y="3968496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968496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4389120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29968" y="4389120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5808" y="4389120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12564" y="3337560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15483" y="3090672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passed and you studied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323" y="3090672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holds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12564" y="3758184"/>
            <a:ext cx="365759" cy="0"/>
          </a:xfrm>
          <a:prstGeom prst="line">
            <a:avLst/>
          </a:prstGeom>
          <a:ln w="15875">
            <a:solidFill>
              <a:srgbClr val="C23B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15483" y="3511296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23B2E"/>
                </a:solidFill>
                <a:latin typeface="Segoe UI"/>
              </a:rPr>
              <a:t>You passed but never studied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7323" y="3511296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this is the one way to break 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12564" y="4178808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15483" y="3931920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did not pass, but you studied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7323" y="3931920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said nothing about this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12564" y="4599432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15483" y="4352544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did not pass and never studied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7323" y="4352544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said nothing about this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065776"/>
            <a:ext cx="10874959" cy="74980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8368" y="5065776"/>
            <a:ext cx="64008" cy="7498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065776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Exactly the same table as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if p, then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that is the whole point: “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”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Note row 3: you studied and still did not pass, and the sentence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still true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Studying was never a promise of passing.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 THIS TWICE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Trap #2  —  “unless”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64207"/>
            <a:ext cx="7772400" cy="77724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1664207"/>
            <a:ext cx="74066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“ The alarm will ring  unless  you enter the PIN.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78608"/>
            <a:ext cx="10874959" cy="80467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578608"/>
            <a:ext cx="64008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578608"/>
            <a:ext cx="10417759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The rule: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  “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unless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B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”   means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¬B → A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Read it as:  </a:t>
            </a:r>
            <a:r>
              <a:rPr sz="1600" b="0" i="1">
                <a:solidFill>
                  <a:srgbClr val="1B2D3E"/>
                </a:solidFill>
                <a:latin typeface="Segoe UI"/>
              </a:rPr>
              <a:t>if B does not happen, then A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9300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by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58768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393192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858768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Name the parts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858768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the alarm rings    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you enter the PIN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62272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7" y="4535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462272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Find A and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462272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A = the alarm rings      B = you enter the PIN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65776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7" y="513892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5065776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Apply 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5065776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¬p → 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  —   if you do not enter the PIN, the alarm rings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724144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5724144"/>
            <a:ext cx="64008" cy="56692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724144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Quick test:  “You will fail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study.”  →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¬study → fail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It never says what happens if you </a:t>
            </a:r>
            <a:r>
              <a:rPr sz="1500" b="0" i="1">
                <a:solidFill>
                  <a:srgbClr val="1B2D3E"/>
                </a:solidFill>
                <a:latin typeface="Segoe UI"/>
              </a:rPr>
              <a:t>do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NECESSARY &amp; SUFFICIENT,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two traps — which part is necessary?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51860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01952"/>
            <a:ext cx="4545939" cy="1691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“You will pass only if you study.”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F07B1D"/>
                </a:solidFill>
                <a:latin typeface="Cambria Math"/>
              </a:rPr>
              <a:t>pass → study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passing is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to conclude that you studied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studying is necessary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passing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7307" y="1664207"/>
            <a:ext cx="51860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47307" y="1664207"/>
            <a:ext cx="51860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7347" y="1901952"/>
            <a:ext cx="4545939" cy="1691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“The alarm will ring unless you enter the PIN.”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1F6FB2"/>
                </a:solidFill>
                <a:latin typeface="Cambria Math"/>
              </a:rPr>
              <a:t>¬PIN → alarm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not entering the PIN is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the alarm to 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the alarm ringing is necessary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not entering the PIN — so a silent alarm means you did enter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77056"/>
            <a:ext cx="10874959" cy="42062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6968" y="3877056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English 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877056"/>
            <a:ext cx="192024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 symbols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4728" y="3877056"/>
            <a:ext cx="2011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Sufficient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3877056"/>
            <a:ext cx="319399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Necessary part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297679"/>
            <a:ext cx="1087495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42976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, then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42976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4728" y="42976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42976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54879"/>
            <a:ext cx="10874959" cy="457200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" y="47548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7548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4728" y="47548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47548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12079"/>
            <a:ext cx="1087495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" y="52120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8728" y="52120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¬B →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52120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2120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97296"/>
            <a:ext cx="10874959" cy="49377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" y="5797296"/>
            <a:ext cx="64008" cy="49377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797296"/>
            <a:ext cx="10417759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arrow always runs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sufficient → necessary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Find which part is necessary and the arrow writes itself.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ENGLISH IS SLIPPERY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Fourteen ways to say  p 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55648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then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31136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23113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06624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2706624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implies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182112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" y="3182112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657600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3657600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33087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4133087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whenever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608576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460857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follows from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4447" y="1755648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98767" y="1755648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2231136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98767" y="223113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unless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706624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98767" y="2706624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provided that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3182112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98767" y="3182112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sufficient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4447" y="3657600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98767" y="3657600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sufficient condition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133087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98767" y="4133087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necessary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4447" y="4608576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98767" y="460857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necessary condition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230368"/>
            <a:ext cx="10874959" cy="86868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64008" cy="8686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0368"/>
            <a:ext cx="10417759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All fourteen have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the same truth table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Do not memorise the list — memorise the two traps: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→ what follows it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·  “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→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(what follows it)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→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the rest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Two more exam words: “except” and “otherwise”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5186019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01952"/>
            <a:ext cx="454593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F07B1D"/>
                </a:solidFill>
                <a:latin typeface="Segoe UI"/>
              </a:rPr>
              <a:t>“except”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“I do homework every day except Sunday.”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Cambria Math"/>
              </a:rPr>
              <a:t>s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today is Sunday    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Here it makes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two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claims at once: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not Sunday →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Sunday → I do not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(¬s → h) ∧ (s → ¬h)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7307" y="1664207"/>
            <a:ext cx="5186019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47307" y="1664207"/>
            <a:ext cx="51860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7347" y="1901952"/>
            <a:ext cx="454593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1F6FB2"/>
                </a:solidFill>
                <a:latin typeface="Segoe UI"/>
              </a:rPr>
              <a:t>“otherwise”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“If today is Sunday I watch TV; otherwise I do homework.”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Cambria Math"/>
              </a:rPr>
              <a:t>s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today is Sunday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t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watch TV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“otherwise” covers the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other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branch: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Sunday → I watch TV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not Sunday →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(s → t) ∧ (¬s → 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63440"/>
            <a:ext cx="10874959" cy="73152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4663440"/>
            <a:ext cx="64008" cy="7315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41775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For sentences like these, work out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both possible cases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write a conditional for each case, then join the two with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Both words are regulars in the mid-term, and the usual slip is writing only one of the two branches.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5955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7" y="5559552"/>
            <a:ext cx="1023487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Try it:   “The shop opens every day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except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Friday.”     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f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it is Friday,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o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the shop opens        →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(¬f → o) ∧ (f → ¬o)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English  →  logic:  a working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86968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Underline the atomic facts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the smallest pieces that are true or false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711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8571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71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Give each one a letter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always state what each letter 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8446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Spot the connecting words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and / but / or / not / if / only if / unless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61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8321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321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Build the expression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add brackets so there is only one 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30168"/>
            <a:ext cx="1087495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630168"/>
            <a:ext cx="1087495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24128" y="3803904"/>
            <a:ext cx="10143439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6FB2"/>
                </a:solidFill>
                <a:latin typeface="Segoe UI"/>
              </a:rPr>
              <a:t>Worked example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“ You can access the lab, but you cannot take a laptop inside unless the teacher allows it. 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You can access the lab.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t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You can take a laptop inside.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w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The teacher allows it.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 i="0">
                <a:solidFill>
                  <a:srgbClr val="5F7388"/>
                </a:solidFill>
                <a:latin typeface="Segoe UI"/>
              </a:rPr>
              <a:t>but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→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   ·    “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¬t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</a:t>
            </a:r>
            <a:r>
              <a:rPr sz="1450" b="1" i="0">
                <a:solidFill>
                  <a:srgbClr val="5F7388"/>
                </a:solidFill>
                <a:latin typeface="Segoe UI"/>
              </a:rPr>
              <a:t>unless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w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” →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¬w → ¬t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6FB2"/>
                </a:solidFill>
                <a:latin typeface="Segoe UI"/>
              </a:rPr>
              <a:t>Answer:  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a ∧ (¬w → ¬t)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More worked translations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m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The library is open.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c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have a library card.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f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have an overdue fine.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b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can borrow a 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3288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743199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60903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“You can borrow a book only if you have a library card and you have no overdue fine.”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“only if” → the right side is necessary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32887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b → (c ∧ ¬f)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65575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3675887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593591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“The library is open, but you cannot borrow a book.”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“but” is just “and”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8" y="3465575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m ∧ ¬b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98264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7" y="4608576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526279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“You cannot borrow a book unless the library is open.”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“A unless B” →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¬B →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4398264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¬m → ¬b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330952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7" y="5541264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545896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“Whenever you have an overdue fine, you cannot borrow a book.”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“q whenever p” →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5330952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f → ¬b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TAKE-HOME PRACTICE · EXAM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Your 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The museum is open.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Visitors need a ticket.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The exhibition is crowded.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60320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670048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560320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museum is open, but visitors do not need a ticket unless the exhibition is crowded.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7" y="3383280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73552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exhibition is not crowded whenever the museum is closed.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86783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7" y="4096511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iii.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986783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Visitors need a ticket only if the museum is open and the exhibition is crowded.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700016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4809744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700016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Either the museum is open or the exhibition is crowded — but not both.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you should walk out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92024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28800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 proposition is a declarative sentence with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exactly one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truth value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questions, orders and sentences with a free variable do not qualify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59536" y="2706624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615184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Five connectives: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∨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⊕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→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“but” means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200" b="0" i="0">
                <a:solidFill>
                  <a:srgbClr val="5F7388"/>
                </a:solidFill>
                <a:latin typeface="Segoe UI"/>
              </a:rPr>
              <a:t>  ·  “or, but not both” means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28415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9536" y="349300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401568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false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true and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false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and a truth table with n variables always has 2ⁿ rows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1480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9536" y="4279392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187952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for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for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 arrow runs from the sufficient part to the necessary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901183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5065775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74336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is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and “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B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is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¬B → A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these two are where most exam marks are lost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705856"/>
            <a:ext cx="10874959" cy="530352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5705856"/>
            <a:ext cx="64008" cy="530352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70585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Read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Rosen, Section 1.1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tonight — nine pages, and you have already seen most of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25535" y="-1371600"/>
            <a:ext cx="4937760" cy="493776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362895" y="4206240"/>
            <a:ext cx="2926080" cy="2926080"/>
          </a:xfrm>
          <a:prstGeom prst="ellipse">
            <a:avLst/>
          </a:prstGeom>
          <a:solidFill>
            <a:srgbClr val="15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932688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Thank you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BFD4E6"/>
                </a:solidFill>
                <a:latin typeface="Segoe UI"/>
              </a:rPr>
              <a:t>Questions are always welcome — now, after class, or by email.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77639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∨ VERSUS 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More examples: which “or” is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14</a:t>
            </a:r>
          </a:p>
        </p:txBody>
      </p:sp>
      <p:sp>
        <p:nvSpPr>
          <p:cNvPr id="101" name="Shape 101"/>
          <p:cNvSpPr/>
          <p:nvPr/>
        </p:nvSpPr>
        <p:spPr>
          <a:xfrm>
            <a:off x="658368" y="1600200"/>
            <a:ext cx="5163159" cy="64008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" name="TextBox 102"/>
          <p:cNvSpPr txBox="1"/>
          <p:nvPr/>
        </p:nvSpPr>
        <p:spPr>
          <a:xfrm>
            <a:off x="978408" y="1600200"/>
            <a:ext cx="4523079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1" i="0" dirty="0">
                <a:solidFill>
                  <a:srgbClr val="0E8F7E"/>
                </a:solidFill>
                <a:latin typeface="Segoe UI"/>
                <a:cs typeface="Segoe UI"/>
              </a:rPr>
              <a:t>Inclusive  </a:t>
            </a:r>
            <a:r>
              <a:rPr lang="en-US" sz="1800" b="1" i="0" dirty="0">
                <a:solidFill>
                  <a:srgbClr val="1F6FB2"/>
                </a:solidFill>
                <a:latin typeface="Cambria Math"/>
                <a:cs typeface="Cambria Math"/>
              </a:rPr>
              <a:t>∨</a:t>
            </a:r>
            <a:r>
              <a:rPr lang="en-US" sz="1300" b="0" i="0" dirty="0">
                <a:solidFill>
                  <a:srgbClr val="1B2D3E"/>
                </a:solidFill>
                <a:latin typeface="Segoe UI"/>
                <a:cs typeface="Segoe UI"/>
              </a:rPr>
              <a:t>   “at least one” — both is fine</a:t>
            </a:r>
          </a:p>
        </p:txBody>
      </p:sp>
      <p:sp>
        <p:nvSpPr>
          <p:cNvPr id="103" name="Shape 103"/>
          <p:cNvSpPr/>
          <p:nvPr/>
        </p:nvSpPr>
        <p:spPr>
          <a:xfrm>
            <a:off x="658368" y="2377440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Shape 104"/>
          <p:cNvSpPr/>
          <p:nvPr/>
        </p:nvSpPr>
        <p:spPr>
          <a:xfrm>
            <a:off x="658368" y="2377440"/>
            <a:ext cx="64008" cy="8686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5" name="TextBox 105"/>
          <p:cNvSpPr txBox="1"/>
          <p:nvPr/>
        </p:nvSpPr>
        <p:spPr>
          <a:xfrm>
            <a:off x="932688" y="2377440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“To apply for a PhD program, you need to have IELTS or TOEFL scores.”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E8F7E"/>
                </a:solidFill>
                <a:latin typeface="Segoe UI"/>
                <a:cs typeface="Segoe UI"/>
              </a:rPr>
              <a:t>Having both scores is fine.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∨</a:t>
            </a:r>
          </a:p>
        </p:txBody>
      </p:sp>
      <p:sp>
        <p:nvSpPr>
          <p:cNvPr id="106" name="Shape 106"/>
          <p:cNvSpPr/>
          <p:nvPr/>
        </p:nvSpPr>
        <p:spPr>
          <a:xfrm>
            <a:off x="658368" y="3328416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7" name="Shape 107"/>
          <p:cNvSpPr/>
          <p:nvPr/>
        </p:nvSpPr>
        <p:spPr>
          <a:xfrm>
            <a:off x="658368" y="3328416"/>
            <a:ext cx="64008" cy="8686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8"/>
          <p:cNvSpPr txBox="1"/>
          <p:nvPr/>
        </p:nvSpPr>
        <p:spPr>
          <a:xfrm>
            <a:off x="932688" y="3328416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“You can contact the instructor through email or WhatsApp.”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E8F7E"/>
                </a:solidFill>
                <a:latin typeface="Segoe UI"/>
                <a:cs typeface="Segoe UI"/>
              </a:rPr>
              <a:t>Using both works too.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∨</a:t>
            </a:r>
          </a:p>
        </p:txBody>
      </p:sp>
      <p:sp>
        <p:nvSpPr>
          <p:cNvPr id="109" name="Shape 109"/>
          <p:cNvSpPr/>
          <p:nvPr/>
        </p:nvSpPr>
        <p:spPr>
          <a:xfrm>
            <a:off x="658368" y="4279392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0" name="Shape 110"/>
          <p:cNvSpPr/>
          <p:nvPr/>
        </p:nvSpPr>
        <p:spPr>
          <a:xfrm>
            <a:off x="658368" y="4279392"/>
            <a:ext cx="64008" cy="8686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1" name="TextBox 111"/>
          <p:cNvSpPr txBox="1"/>
          <p:nvPr/>
        </p:nvSpPr>
        <p:spPr>
          <a:xfrm>
            <a:off x="932688" y="4279392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“You need a passport or a national ID to complete the registration process.”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E8F7E"/>
                </a:solidFill>
                <a:latin typeface="Segoe UI"/>
                <a:cs typeface="Segoe UI"/>
              </a:rPr>
              <a:t>Bringing both is no problem.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∨</a:t>
            </a:r>
          </a:p>
        </p:txBody>
      </p:sp>
      <p:sp>
        <p:nvSpPr>
          <p:cNvPr id="112" name="Shape 112"/>
          <p:cNvSpPr/>
          <p:nvPr/>
        </p:nvSpPr>
        <p:spPr>
          <a:xfrm>
            <a:off x="658368" y="5230368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Shape 113"/>
          <p:cNvSpPr/>
          <p:nvPr/>
        </p:nvSpPr>
        <p:spPr>
          <a:xfrm>
            <a:off x="658368" y="5230368"/>
            <a:ext cx="64008" cy="8686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4" name="TextBox 114"/>
          <p:cNvSpPr txBox="1"/>
          <p:nvPr/>
        </p:nvSpPr>
        <p:spPr>
          <a:xfrm>
            <a:off x="932688" y="5230368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“Students can learn Python or Java in the first year.”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E8F7E"/>
                </a:solidFill>
                <a:latin typeface="Segoe UI"/>
                <a:cs typeface="Segoe UI"/>
              </a:rPr>
              <a:t>Learning both is allowed.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∨</a:t>
            </a:r>
          </a:p>
        </p:txBody>
      </p:sp>
      <p:sp>
        <p:nvSpPr>
          <p:cNvPr id="115" name="Shape 115"/>
          <p:cNvSpPr/>
          <p:nvPr/>
        </p:nvSpPr>
        <p:spPr>
          <a:xfrm>
            <a:off x="6370167" y="1600200"/>
            <a:ext cx="5163159" cy="640080"/>
          </a:xfrm>
          <a:prstGeom prst="roundRect">
            <a:avLst>
              <a:gd name="adj" fmla="val 6000"/>
            </a:avLst>
          </a:prstGeom>
          <a:solidFill>
            <a:srgbClr val="F2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TextBox 116"/>
          <p:cNvSpPr txBox="1"/>
          <p:nvPr/>
        </p:nvSpPr>
        <p:spPr>
          <a:xfrm>
            <a:off x="6690207" y="1600200"/>
            <a:ext cx="4523079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b="1" i="0" dirty="0">
                <a:solidFill>
                  <a:srgbClr val="6B4EA8"/>
                </a:solidFill>
                <a:latin typeface="Segoe UI"/>
                <a:cs typeface="Segoe UI"/>
              </a:rPr>
              <a:t>Exclusive  </a:t>
            </a:r>
            <a:r>
              <a:rPr lang="en-US" sz="1800" b="1" i="0" dirty="0">
                <a:solidFill>
                  <a:srgbClr val="1F6FB2"/>
                </a:solidFill>
                <a:latin typeface="Cambria Math"/>
                <a:cs typeface="Cambria Math"/>
              </a:rPr>
              <a:t>⊕</a:t>
            </a:r>
            <a:r>
              <a:rPr lang="en-US" sz="1300" b="0" i="0" dirty="0">
                <a:solidFill>
                  <a:srgbClr val="1B2D3E"/>
                </a:solidFill>
                <a:latin typeface="Segoe UI"/>
                <a:cs typeface="Segoe UI"/>
              </a:rPr>
              <a:t>   “exactly one” — not both</a:t>
            </a:r>
          </a:p>
        </p:txBody>
      </p:sp>
      <p:sp>
        <p:nvSpPr>
          <p:cNvPr id="117" name="Shape 117"/>
          <p:cNvSpPr/>
          <p:nvPr/>
        </p:nvSpPr>
        <p:spPr>
          <a:xfrm>
            <a:off x="6370167" y="2377440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8" name="Shape 118"/>
          <p:cNvSpPr/>
          <p:nvPr/>
        </p:nvSpPr>
        <p:spPr>
          <a:xfrm>
            <a:off x="6370167" y="2377440"/>
            <a:ext cx="64008" cy="8686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9"/>
          <p:cNvSpPr txBox="1"/>
          <p:nvPr/>
        </p:nvSpPr>
        <p:spPr>
          <a:xfrm>
            <a:off x="6644487" y="2377440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“Tamim or Shakib will be the next captain of the national cricket team.”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6B4EA8"/>
                </a:solidFill>
                <a:latin typeface="Segoe UI"/>
                <a:cs typeface="Segoe UI"/>
              </a:rPr>
              <a:t>Only one captain at a time.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⊕</a:t>
            </a:r>
          </a:p>
        </p:txBody>
      </p:sp>
      <p:sp>
        <p:nvSpPr>
          <p:cNvPr id="120" name="Shape 120"/>
          <p:cNvSpPr/>
          <p:nvPr/>
        </p:nvSpPr>
        <p:spPr>
          <a:xfrm>
            <a:off x="6370167" y="3328416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Shape 121"/>
          <p:cNvSpPr/>
          <p:nvPr/>
        </p:nvSpPr>
        <p:spPr>
          <a:xfrm>
            <a:off x="6370167" y="3328416"/>
            <a:ext cx="64008" cy="8686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2" name="TextBox 122"/>
          <p:cNvSpPr txBox="1"/>
          <p:nvPr/>
        </p:nvSpPr>
        <p:spPr>
          <a:xfrm>
            <a:off x="6644487" y="3328416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“The switch is ON or OFF.”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6B4EA8"/>
                </a:solidFill>
                <a:latin typeface="Segoe UI"/>
                <a:cs typeface="Segoe UI"/>
              </a:rPr>
              <a:t>It can’t be both at once.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⊕</a:t>
            </a:r>
          </a:p>
        </p:txBody>
      </p:sp>
      <p:sp>
        <p:nvSpPr>
          <p:cNvPr id="123" name="Shape 123"/>
          <p:cNvSpPr/>
          <p:nvPr/>
        </p:nvSpPr>
        <p:spPr>
          <a:xfrm>
            <a:off x="6370167" y="4279392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4" name="Shape 124"/>
          <p:cNvSpPr/>
          <p:nvPr/>
        </p:nvSpPr>
        <p:spPr>
          <a:xfrm>
            <a:off x="6370167" y="4279392"/>
            <a:ext cx="64008" cy="8686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5" name="TextBox 125"/>
          <p:cNvSpPr txBox="1"/>
          <p:nvPr/>
        </p:nvSpPr>
        <p:spPr>
          <a:xfrm>
            <a:off x="6644487" y="4279392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“A student will pass or fail the examination.”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6B4EA8"/>
                </a:solidFill>
                <a:latin typeface="Segoe UI"/>
                <a:cs typeface="Segoe UI"/>
              </a:rPr>
              <a:t>Both results can’t happen together.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⊕</a:t>
            </a:r>
          </a:p>
        </p:txBody>
      </p:sp>
      <p:sp>
        <p:nvSpPr>
          <p:cNvPr id="126" name="Shape 126"/>
          <p:cNvSpPr/>
          <p:nvPr/>
        </p:nvSpPr>
        <p:spPr>
          <a:xfrm>
            <a:off x="6370167" y="5230368"/>
            <a:ext cx="5163159" cy="8686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7" name="Shape 127"/>
          <p:cNvSpPr/>
          <p:nvPr/>
        </p:nvSpPr>
        <p:spPr>
          <a:xfrm>
            <a:off x="6370167" y="5230368"/>
            <a:ext cx="64008" cy="8686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8"/>
          <p:cNvSpPr txBox="1"/>
          <p:nvPr/>
        </p:nvSpPr>
        <p:spPr>
          <a:xfrm>
            <a:off x="6644487" y="5230368"/>
            <a:ext cx="4705959" cy="8686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sz="1350" b="0" i="0" dirty="0">
                <a:solidFill>
                  <a:srgbClr val="1B2D3E"/>
                </a:solidFill>
                <a:latin typeface="Segoe UI"/>
                <a:cs typeface="Segoe UI"/>
              </a:rPr>
              <a:t>“The coin will land on heads or tails.”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6B4EA8"/>
                </a:solidFill>
                <a:latin typeface="Segoe UI"/>
                <a:cs typeface="Segoe UI"/>
              </a:rPr>
              <a:t>Exactly one face lands up. → </a:t>
            </a:r>
            <a:r>
              <a:rPr lang="en-US" sz="1300" b="1" i="0" dirty="0">
                <a:solidFill>
                  <a:srgbClr val="1F6FB2"/>
                </a:solidFill>
                <a:latin typeface="Cambria Math"/>
                <a:cs typeface="Cambria Math"/>
              </a:rPr>
              <a:t>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4282</Words>
  <Application>Microsoft Office PowerPoint</Application>
  <PresentationFormat>Widescreen</PresentationFormat>
  <Paragraphs>675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2005067 - Masnoon Muztahid</cp:lastModifiedBy>
  <cp:revision>6</cp:revision>
  <dcterms:created xsi:type="dcterms:W3CDTF">2013-01-27T09:14:16Z</dcterms:created>
  <dcterms:modified xsi:type="dcterms:W3CDTF">2026-10-28T14:13:26Z</dcterms:modified>
  <cp:category/>
</cp:coreProperties>
</file>