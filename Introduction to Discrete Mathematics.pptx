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571" autoAdjust="0"/>
  </p:normalViewPr>
  <p:slideViewPr>
    <p:cSldViewPr snapToGrid="0" snapToObjects="1">
      <p:cViewPr varScale="1">
        <p:scale>
          <a:sx n="72" d="100"/>
          <a:sy n="72" d="100"/>
        </p:scale>
        <p:origin x="97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34095" y="-1463040"/>
            <a:ext cx="5120640" cy="5120640"/>
          </a:xfrm>
          <a:prstGeom prst="ellipse">
            <a:avLst/>
          </a:prstGeom>
          <a:solidFill>
            <a:srgbClr val="173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180015" y="3840480"/>
            <a:ext cx="3108960" cy="3108960"/>
          </a:xfrm>
          <a:prstGeom prst="ellipse">
            <a:avLst/>
          </a:prstGeom>
          <a:solidFill>
            <a:srgbClr val="15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51560" y="658368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77724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2148840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CSE 2213  ·  3 CREDITS  ·  DEPARTMENT OF CSE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40"/>
            <a:ext cx="969264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"/>
              </a:rPr>
              <a:t>Discrete Mathematics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BFD4E6"/>
                </a:solidFill>
                <a:latin typeface="Segoe UI"/>
              </a:rPr>
              <a:t>Lecture 1  ·  Introduction to the course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709160"/>
            <a:ext cx="128016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9834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Masnoon Muztahid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Lecturer, Department of CSE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United International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HELLO, EVERYONE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Your instructor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01367"/>
            <a:ext cx="5760720" cy="29718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01367"/>
            <a:ext cx="73152" cy="29718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121408"/>
            <a:ext cx="5120640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 dirty="0">
                <a:solidFill>
                  <a:srgbClr val="102A43"/>
                </a:solidFill>
                <a:latin typeface="Segoe UI"/>
              </a:rPr>
              <a:t>Masnoon Muztahid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endParaRPr lang="en-US" sz="1500" b="0" i="0" dirty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1B2D3E"/>
                </a:solidFill>
                <a:latin typeface="Segoe UI"/>
              </a:rPr>
              <a:t>Email        masnoon@</a:t>
            </a:r>
            <a:r>
              <a:rPr lang="en-US" sz="1500" b="0" i="0" dirty="0">
                <a:solidFill>
                  <a:srgbClr val="1B2D3E"/>
                </a:solidFill>
                <a:latin typeface="Segoe UI"/>
              </a:rPr>
              <a:t>cse.uiu.ac</a:t>
            </a:r>
            <a:r>
              <a:rPr sz="1500" b="0" i="0" dirty="0">
                <a:solidFill>
                  <a:srgbClr val="1B2D3E"/>
                </a:solidFill>
                <a:latin typeface="Segoe UI"/>
              </a:rPr>
              <a:t>.</a:t>
            </a:r>
            <a:r>
              <a:rPr lang="en-US" sz="1500" b="0" i="0" dirty="0">
                <a:solidFill>
                  <a:srgbClr val="1B2D3E"/>
                </a:solidFill>
                <a:latin typeface="Segoe UI"/>
              </a:rPr>
              <a:t>bd</a:t>
            </a:r>
            <a:endParaRPr sz="1500" b="0" i="0" dirty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1B2D3E"/>
                </a:solidFill>
                <a:latin typeface="Segoe UI"/>
              </a:rPr>
              <a:t>Phone        01999977523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76288" y="1801367"/>
            <a:ext cx="4657039" cy="2971800"/>
          </a:xfrm>
          <a:prstGeom prst="roundRect">
            <a:avLst>
              <a:gd name="adj" fmla="val 6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60336" y="2121408"/>
            <a:ext cx="3834079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1" i="0">
                <a:solidFill>
                  <a:srgbClr val="102A43"/>
                </a:solidFill>
                <a:latin typeface="Segoe UI"/>
              </a:rPr>
              <a:t>How we will stay in touch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eLMS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slides, assignments, announcements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UCAM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all marks and attendance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Class representative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day-to-day coordination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Email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anything personal or detailed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Phone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emergencies only, please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065776"/>
            <a:ext cx="10874959" cy="658368"/>
          </a:xfrm>
          <a:prstGeom prst="roundRect">
            <a:avLst>
              <a:gd name="adj" fmla="val 8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" y="5065776"/>
            <a:ext cx="64008" cy="65836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065776"/>
            <a:ext cx="1041775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Questions are always welcome — during class, after class, or by email. A question you ask today saves you an hour tonight.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Where this course sits in your degree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dirty="0">
                <a:solidFill>
                  <a:srgbClr val="102A43"/>
                </a:solidFill>
                <a:latin typeface="Segoe UI"/>
              </a:rPr>
              <a:t>Intro to
Comput</a:t>
            </a:r>
            <a:r>
              <a:rPr lang="en-US" sz="1450" b="1" i="0" dirty="0">
                <a:solidFill>
                  <a:srgbClr val="102A43"/>
                </a:solidFill>
                <a:latin typeface="Segoe UI"/>
              </a:rPr>
              <a:t>er</a:t>
            </a:r>
            <a:r>
              <a:rPr sz="1450" b="1" i="0" dirty="0">
                <a:solidFill>
                  <a:srgbClr val="102A43"/>
                </a:solidFill>
                <a:latin typeface="Segoe UI"/>
              </a:rPr>
              <a:t>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9232" y="175564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Structured
Programming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349300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Discrete
Mathematics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62432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Data Structures
&amp; Algorithms 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71231" y="262432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Object Oriented
Programming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57232" y="262432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Data Structures
&amp; Algorithms II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15184" y="2093976"/>
            <a:ext cx="338328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73752" y="2093976"/>
            <a:ext cx="365760" cy="758952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873752" y="3072384"/>
            <a:ext cx="365760" cy="758952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59752" y="2962656"/>
            <a:ext cx="365760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45752" y="2962656"/>
            <a:ext cx="365760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999232" y="4251960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▲  We are 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001768"/>
            <a:ext cx="10874959" cy="82296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5001768"/>
            <a:ext cx="64008" cy="82296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001768"/>
            <a:ext cx="1041775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Almost everything you will build later — algorithms, databases, networks, AI — rests on the ideas of this one course.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Weak foundation here means a hard time in every course that follows.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So, what is Discrete Mathematics?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10874959" cy="749808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709928"/>
            <a:ext cx="64008" cy="7498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09928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>
                <a:solidFill>
                  <a:srgbClr val="1B2D3E"/>
                </a:solidFill>
                <a:latin typeface="Segoe UI"/>
              </a:rPr>
              <a:t>The mathematics of things you can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count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and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separate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— whole numbers, objects, steps, states, choices.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15768"/>
            <a:ext cx="5208879" cy="233172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91693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8F7E"/>
                </a:solidFill>
                <a:latin typeface="Segoe UI"/>
              </a:rPr>
              <a:t>DISCRETE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19125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separate, countable points</a:t>
            </a:r>
          </a:p>
        </p:txBody>
      </p:sp>
      <p:sp>
        <p:nvSpPr>
          <p:cNvPr id="14" name="Oval 13"/>
          <p:cNvSpPr/>
          <p:nvPr/>
        </p:nvSpPr>
        <p:spPr>
          <a:xfrm>
            <a:off x="1316736" y="4379976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938528" y="4335766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560320" y="4245958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182112" y="4123582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803904" y="3973711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425696" y="3799391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047488" y="3602736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465429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1, 2, 3 …   students, bits, nodes, moves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447" y="2715768"/>
            <a:ext cx="5208879" cy="233172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24447" y="291693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6FB2"/>
                </a:solidFill>
                <a:latin typeface="Segoe UI"/>
              </a:rPr>
              <a:t>CONTINUOUS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319125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unbroken, flowing values</a:t>
            </a:r>
          </a:p>
        </p:txBody>
      </p:sp>
      <p:sp>
        <p:nvSpPr>
          <p:cNvPr id="25" name="Freeform 24"/>
          <p:cNvSpPr/>
          <p:nvPr/>
        </p:nvSpPr>
        <p:spPr>
          <a:xfrm>
            <a:off x="6982815" y="3685032"/>
            <a:ext cx="3730752" cy="777240"/>
          </a:xfrm>
          <a:custGeom>
            <a:avLst/>
            <a:gdLst/>
            <a:ahLst/>
            <a:cxnLst/>
            <a:rect l="l" t="t" r="r" b="b"/>
            <a:pathLst>
              <a:path w="3730752" h="777240">
                <a:moveTo>
                  <a:pt x="0" y="777240"/>
                </a:moveTo>
                <a:lnTo>
                  <a:pt x="93269" y="775115"/>
                </a:lnTo>
                <a:lnTo>
                  <a:pt x="186538" y="770799"/>
                </a:lnTo>
                <a:lnTo>
                  <a:pt x="279806" y="764918"/>
                </a:lnTo>
                <a:lnTo>
                  <a:pt x="373075" y="757716"/>
                </a:lnTo>
                <a:lnTo>
                  <a:pt x="466344" y="749339"/>
                </a:lnTo>
                <a:lnTo>
                  <a:pt x="559613" y="739889"/>
                </a:lnTo>
                <a:lnTo>
                  <a:pt x="652882" y="729441"/>
                </a:lnTo>
                <a:lnTo>
                  <a:pt x="746150" y="718056"/>
                </a:lnTo>
                <a:lnTo>
                  <a:pt x="839419" y="705782"/>
                </a:lnTo>
                <a:lnTo>
                  <a:pt x="932688" y="692661"/>
                </a:lnTo>
                <a:lnTo>
                  <a:pt x="1025957" y="678728"/>
                </a:lnTo>
                <a:lnTo>
                  <a:pt x="1119226" y="664013"/>
                </a:lnTo>
                <a:lnTo>
                  <a:pt x="1212494" y="648542"/>
                </a:lnTo>
                <a:lnTo>
                  <a:pt x="1305763" y="632341"/>
                </a:lnTo>
                <a:lnTo>
                  <a:pt x="1399032" y="615430"/>
                </a:lnTo>
                <a:lnTo>
                  <a:pt x="1492301" y="597828"/>
                </a:lnTo>
                <a:lnTo>
                  <a:pt x="1585570" y="579553"/>
                </a:lnTo>
                <a:lnTo>
                  <a:pt x="1678838" y="560621"/>
                </a:lnTo>
                <a:lnTo>
                  <a:pt x="1772107" y="541048"/>
                </a:lnTo>
                <a:lnTo>
                  <a:pt x="1865376" y="520846"/>
                </a:lnTo>
                <a:lnTo>
                  <a:pt x="1958645" y="500029"/>
                </a:lnTo>
                <a:lnTo>
                  <a:pt x="2051914" y="478608"/>
                </a:lnTo>
                <a:lnTo>
                  <a:pt x="2145182" y="456595"/>
                </a:lnTo>
                <a:lnTo>
                  <a:pt x="2238451" y="434000"/>
                </a:lnTo>
                <a:lnTo>
                  <a:pt x="2331720" y="410833"/>
                </a:lnTo>
                <a:lnTo>
                  <a:pt x="2424989" y="387103"/>
                </a:lnTo>
                <a:lnTo>
                  <a:pt x="2518258" y="362819"/>
                </a:lnTo>
                <a:lnTo>
                  <a:pt x="2611527" y="337989"/>
                </a:lnTo>
                <a:lnTo>
                  <a:pt x="2704795" y="312622"/>
                </a:lnTo>
                <a:lnTo>
                  <a:pt x="2798064" y="286724"/>
                </a:lnTo>
                <a:lnTo>
                  <a:pt x="2891333" y="260302"/>
                </a:lnTo>
                <a:lnTo>
                  <a:pt x="2984602" y="233364"/>
                </a:lnTo>
                <a:lnTo>
                  <a:pt x="3077870" y="205917"/>
                </a:lnTo>
                <a:lnTo>
                  <a:pt x="3171139" y="177966"/>
                </a:lnTo>
                <a:lnTo>
                  <a:pt x="3264408" y="149517"/>
                </a:lnTo>
                <a:lnTo>
                  <a:pt x="3357677" y="120576"/>
                </a:lnTo>
                <a:lnTo>
                  <a:pt x="3450946" y="91148"/>
                </a:lnTo>
                <a:lnTo>
                  <a:pt x="3544215" y="61240"/>
                </a:lnTo>
                <a:lnTo>
                  <a:pt x="3637483" y="30855"/>
                </a:lnTo>
                <a:lnTo>
                  <a:pt x="3730752" y="0"/>
                </a:lnTo>
                <a:lnTo>
                  <a:pt x="3637483" y="30855"/>
                </a:lnTo>
                <a:lnTo>
                  <a:pt x="3544215" y="61240"/>
                </a:lnTo>
                <a:lnTo>
                  <a:pt x="3450946" y="91148"/>
                </a:lnTo>
                <a:lnTo>
                  <a:pt x="3357677" y="120576"/>
                </a:lnTo>
                <a:lnTo>
                  <a:pt x="3264408" y="149517"/>
                </a:lnTo>
                <a:lnTo>
                  <a:pt x="3171139" y="177966"/>
                </a:lnTo>
                <a:lnTo>
                  <a:pt x="3077870" y="205917"/>
                </a:lnTo>
                <a:lnTo>
                  <a:pt x="2984602" y="233364"/>
                </a:lnTo>
                <a:lnTo>
                  <a:pt x="2891333" y="260302"/>
                </a:lnTo>
                <a:lnTo>
                  <a:pt x="2798064" y="286724"/>
                </a:lnTo>
                <a:lnTo>
                  <a:pt x="2704795" y="312622"/>
                </a:lnTo>
                <a:lnTo>
                  <a:pt x="2611527" y="337989"/>
                </a:lnTo>
                <a:lnTo>
                  <a:pt x="2518258" y="362819"/>
                </a:lnTo>
                <a:lnTo>
                  <a:pt x="2424989" y="387103"/>
                </a:lnTo>
                <a:lnTo>
                  <a:pt x="2331720" y="410833"/>
                </a:lnTo>
                <a:lnTo>
                  <a:pt x="2238451" y="434000"/>
                </a:lnTo>
                <a:lnTo>
                  <a:pt x="2145182" y="456595"/>
                </a:lnTo>
                <a:lnTo>
                  <a:pt x="2051914" y="478608"/>
                </a:lnTo>
                <a:lnTo>
                  <a:pt x="1958645" y="500029"/>
                </a:lnTo>
                <a:lnTo>
                  <a:pt x="1865376" y="520846"/>
                </a:lnTo>
                <a:lnTo>
                  <a:pt x="1772107" y="541048"/>
                </a:lnTo>
                <a:lnTo>
                  <a:pt x="1678838" y="560621"/>
                </a:lnTo>
                <a:lnTo>
                  <a:pt x="1585570" y="579553"/>
                </a:lnTo>
                <a:lnTo>
                  <a:pt x="1492301" y="597828"/>
                </a:lnTo>
                <a:lnTo>
                  <a:pt x="1399032" y="615430"/>
                </a:lnTo>
                <a:lnTo>
                  <a:pt x="1305763" y="632341"/>
                </a:lnTo>
                <a:lnTo>
                  <a:pt x="1212494" y="648542"/>
                </a:lnTo>
                <a:lnTo>
                  <a:pt x="1119226" y="664013"/>
                </a:lnTo>
                <a:lnTo>
                  <a:pt x="1025957" y="678728"/>
                </a:lnTo>
                <a:lnTo>
                  <a:pt x="932688" y="692661"/>
                </a:lnTo>
                <a:lnTo>
                  <a:pt x="839419" y="705782"/>
                </a:lnTo>
                <a:lnTo>
                  <a:pt x="746150" y="718056"/>
                </a:lnTo>
                <a:lnTo>
                  <a:pt x="652882" y="729441"/>
                </a:lnTo>
                <a:lnTo>
                  <a:pt x="559613" y="739889"/>
                </a:lnTo>
                <a:lnTo>
                  <a:pt x="466344" y="749339"/>
                </a:lnTo>
                <a:lnTo>
                  <a:pt x="373075" y="757716"/>
                </a:lnTo>
                <a:lnTo>
                  <a:pt x="279806" y="764918"/>
                </a:lnTo>
                <a:lnTo>
                  <a:pt x="186538" y="770799"/>
                </a:lnTo>
                <a:lnTo>
                  <a:pt x="93269" y="775115"/>
                </a:lnTo>
                <a:lnTo>
                  <a:pt x="0" y="777240"/>
                </a:lnTo>
                <a:close/>
              </a:path>
            </a:pathLst>
          </a:custGeom>
          <a:noFill/>
          <a:ln w="3810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24447" y="465429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speed, temperature, voltage — that is Calculus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257800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8368" y="5257800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5257800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 computer has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no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continuous values. Memory is bits, time is clock ticks, a program is a finite list of steps. So computer science </a:t>
            </a:r>
            <a:r>
              <a:rPr sz="1500" b="0" i="1">
                <a:solidFill>
                  <a:srgbClr val="1B2D3E"/>
                </a:solidFill>
                <a:latin typeface="Segoe UI"/>
              </a:rPr>
              <a:t>is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discrete.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dirty="0">
                <a:solidFill>
                  <a:srgbClr val="F07B1D"/>
                </a:solidFill>
                <a:latin typeface="Segoe UI"/>
              </a:rPr>
              <a:t>FIVE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Goals of this course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132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7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A discrete mathematics course is not a list of facts to memorise. Its real goal is to teach you to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think logically and mathematically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. Five themes run through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7860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2578608"/>
            <a:ext cx="64008" cy="64008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27066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578608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Mathematical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7860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Read, understand and build a correct mathematical argument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2578608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7B1D"/>
                </a:solidFill>
                <a:latin typeface="Segoe UI"/>
              </a:rPr>
              <a:t>Logic  ·  Proof techniques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91839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3291839"/>
            <a:ext cx="64008" cy="6400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3419856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3291839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Combinatorial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291839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Count and enumerate objects without listing them one by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3291839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6FB2"/>
                </a:solidFill>
                <a:latin typeface="Segoe UI"/>
              </a:rPr>
              <a:t>Counting  ·  Permutations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005072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8368" y="4005072"/>
            <a:ext cx="64008" cy="64008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4400" y="4133087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4005072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Discrete structures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40050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Work with the structures that model objects and their relationships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8" y="4005072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8F7E"/>
                </a:solidFill>
                <a:latin typeface="Segoe UI"/>
              </a:rPr>
              <a:t>Sets  ·  Functions  ·  Graphs  ·  Trees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718304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8368" y="4718304"/>
            <a:ext cx="64008" cy="64008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14400" y="484632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4718304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Algorithmic thinking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4718304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Specify an algorithm, show that it is correct, measure what it costs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8008" y="4718304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B4EA8"/>
                </a:solidFill>
                <a:latin typeface="Segoe UI"/>
              </a:rPr>
              <a:t>Algorithms  ·  Complexity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431536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" y="5431536"/>
            <a:ext cx="64008" cy="6400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14400" y="5559551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99616" y="5431536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Applications and modelling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90288" y="543153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Turn a real problem into a discrete model and then solve 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08008" y="5431536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2A43"/>
                </a:solidFill>
                <a:latin typeface="Segoe UI"/>
              </a:rPr>
              <a:t>Every chapter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Why should you care?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47088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47088"/>
            <a:ext cx="3344570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139696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Algorithms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Prove your code is correct —
and count how slow it 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3562" y="1847088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23562" y="1847088"/>
            <a:ext cx="3344570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7882" y="2139696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Databases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SQL is set theory and
logic wearing a costume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8756" y="1847088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8756" y="1847088"/>
            <a:ext cx="3344570" cy="6400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63076" y="2139696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Cryptography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Your password, OTP and HTTPS
are number theory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57016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3557016"/>
            <a:ext cx="3344570" cy="64008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849624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AI &amp; Machine Learning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Probability, counting and
logical inference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3562" y="3557016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23562" y="3557016"/>
            <a:ext cx="3344570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97882" y="3849624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Networks &amp; Maps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Shortest route, routing tables,
social graphs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8756" y="3557016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8756" y="3557016"/>
            <a:ext cx="3344570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63076" y="3849624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Digital Logic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Every circuit in a CPU is a
logical expression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21808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5321808"/>
            <a:ext cx="64008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321808"/>
            <a:ext cx="104177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Every one of these is a later course. Today you start the toolbox they all borrow from.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QUESTIONS THIS COURSE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kinds of problems it solves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175564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many ways are there to choose a valid password on a computer system?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516368" y="2011680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156448" y="1755648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Counting &amp; permutations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359152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235915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What is the probability of winning a lottery?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16368" y="2615184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56448" y="2359152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Discrete probability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962656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7" y="296265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can I encrypt a message so that no unintended recipient can read it?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16368" y="3218688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56448" y="2962656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Number theory &amp; cryptography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566160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7" y="356616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What is the shortest path between two cities using a transportation system?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16368" y="3822191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56448" y="3566160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Graphs &amp; shortest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169664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8407" y="4169664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can a list of integers be sorted so that the integers are in increasing order?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16368" y="4425696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156448" y="4169664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Algorithms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7731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8407" y="477316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many steps are required to do such a sorting?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6368" y="5029200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56448" y="4773168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Algorithm complexity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376672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7" y="537667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can it be proved that a sorting algorithm correctly sorts a list?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516368" y="5632704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56448" y="5376672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Proof techniques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COURSE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we will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5208879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755648"/>
            <a:ext cx="520887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984248"/>
            <a:ext cx="456879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Before the Mid-term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447" y="2029967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7B1D"/>
                </a:solidFill>
                <a:latin typeface="Segoe UI"/>
              </a:rPr>
              <a:t>CO 1 · 2 · 3</a:t>
            </a:r>
          </a:p>
        </p:txBody>
      </p:sp>
      <p:sp>
        <p:nvSpPr>
          <p:cNvPr id="12" name="Oval 11"/>
          <p:cNvSpPr/>
          <p:nvPr/>
        </p:nvSpPr>
        <p:spPr>
          <a:xfrm>
            <a:off x="978407" y="2679191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551175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Propositional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047" y="2578607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3 classes</a:t>
            </a:r>
          </a:p>
        </p:txBody>
      </p:sp>
      <p:sp>
        <p:nvSpPr>
          <p:cNvPr id="15" name="Oval 14"/>
          <p:cNvSpPr/>
          <p:nvPr/>
        </p:nvSpPr>
        <p:spPr>
          <a:xfrm>
            <a:off x="978407" y="3191256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80160" y="3063239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Predicates &amp; Quantifiers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09067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2 classes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7" y="3703320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80160" y="3575303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Proof Techniques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047" y="3602735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2 classes</a:t>
            </a:r>
          </a:p>
        </p:txBody>
      </p:sp>
      <p:sp>
        <p:nvSpPr>
          <p:cNvPr id="21" name="Oval 20"/>
          <p:cNvSpPr/>
          <p:nvPr/>
        </p:nvSpPr>
        <p:spPr>
          <a:xfrm>
            <a:off x="978407" y="4215383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80160" y="4087367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Sets &amp; Set Operations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047" y="4114799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2 classes</a:t>
            </a:r>
          </a:p>
        </p:txBody>
      </p:sp>
      <p:sp>
        <p:nvSpPr>
          <p:cNvPr id="24" name="Oval 23"/>
          <p:cNvSpPr/>
          <p:nvPr/>
        </p:nvSpPr>
        <p:spPr>
          <a:xfrm>
            <a:off x="978407" y="4727448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80160" y="4599431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Functions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047" y="46268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27" name="Oval 26"/>
          <p:cNvSpPr/>
          <p:nvPr/>
        </p:nvSpPr>
        <p:spPr>
          <a:xfrm>
            <a:off x="978407" y="5239512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80160" y="5111496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Mathematical Induction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047" y="51389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4447" y="1755648"/>
            <a:ext cx="5208879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24447" y="1755648"/>
            <a:ext cx="520887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44487" y="1984248"/>
            <a:ext cx="456879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Before the Final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04527" y="2029967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6FB2"/>
                </a:solidFill>
                <a:latin typeface="Segoe UI"/>
              </a:rPr>
              <a:t>CO 4 · 5</a:t>
            </a:r>
          </a:p>
        </p:txBody>
      </p:sp>
      <p:sp>
        <p:nvSpPr>
          <p:cNvPr id="34" name="Oval 33"/>
          <p:cNvSpPr/>
          <p:nvPr/>
        </p:nvSpPr>
        <p:spPr>
          <a:xfrm>
            <a:off x="6644487" y="2679191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46239" y="2551175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Basics of Counting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3127" y="2578607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37" name="Oval 36"/>
          <p:cNvSpPr/>
          <p:nvPr/>
        </p:nvSpPr>
        <p:spPr>
          <a:xfrm>
            <a:off x="6644487" y="3191256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6239" y="3063239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Pigeonhole Principle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3127" y="309067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40" name="Oval 39"/>
          <p:cNvSpPr/>
          <p:nvPr/>
        </p:nvSpPr>
        <p:spPr>
          <a:xfrm>
            <a:off x="6644487" y="3703320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6239" y="3575303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Permutations &amp; Combinations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3127" y="3602735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43" name="Oval 42"/>
          <p:cNvSpPr/>
          <p:nvPr/>
        </p:nvSpPr>
        <p:spPr>
          <a:xfrm>
            <a:off x="6644487" y="4215383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46239" y="4087367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Recurrence Relations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33127" y="4114799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46" name="Oval 45"/>
          <p:cNvSpPr/>
          <p:nvPr/>
        </p:nvSpPr>
        <p:spPr>
          <a:xfrm>
            <a:off x="6644487" y="4727448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946239" y="4599431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Graphs &amp; Graph Models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3127" y="46268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4 classes</a:t>
            </a:r>
          </a:p>
        </p:txBody>
      </p:sp>
      <p:sp>
        <p:nvSpPr>
          <p:cNvPr id="49" name="Oval 48"/>
          <p:cNvSpPr/>
          <p:nvPr/>
        </p:nvSpPr>
        <p:spPr>
          <a:xfrm>
            <a:off x="6644487" y="5239512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946239" y="5111496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Trees &amp; their Applications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33127" y="51389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3 classes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596127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58368" y="5596127"/>
            <a:ext cx="64008" cy="5486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" y="5596127"/>
            <a:ext cx="1041775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Everything builds on everything. Miss a week and the next week costs you double.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Our textbook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057399"/>
            <a:ext cx="3176480" cy="3566160"/>
          </a:xfrm>
          <a:prstGeom prst="rect">
            <a:avLst/>
          </a:prstGeom>
          <a:solidFill>
            <a:srgbClr val="E2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pic>
        <p:nvPicPr>
          <p:cNvPr id="9" name="Picture 8" descr="rosen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38527"/>
            <a:ext cx="3176480" cy="3566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69288" y="2075688"/>
            <a:ext cx="646403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02A43"/>
                </a:solidFill>
                <a:latin typeface="Segoe UI"/>
              </a:rPr>
              <a:t>Discrete Mathematics and Its Applications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7388"/>
                </a:solidFill>
                <a:latin typeface="Segoe UI"/>
              </a:rPr>
              <a:t>Kenneth H. Rosen  ·  8th Edition  ·  McGraw-Hill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9288" y="3145536"/>
            <a:ext cx="6464038" cy="3072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Every topic in this course maps to a chapter of this book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Read 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section before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the class — even skimming helps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Examples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are worked out step by step — copy that in exams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Exercises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at the end of each section are your practice 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9288" y="4919472"/>
            <a:ext cx="6464038" cy="585216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69288" y="4919472"/>
            <a:ext cx="64008" cy="585216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25320" y="4919472"/>
            <a:ext cx="6006838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Today: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Section 1.1 — Propositional Logic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Marks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75103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Attendance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85999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Central UIU attendance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2011679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07407" y="2011679"/>
            <a:ext cx="605790" cy="310896"/>
          </a:xfrm>
          <a:prstGeom prst="roundRect">
            <a:avLst>
              <a:gd name="adj" fmla="val 40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54896" y="2002535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07B1D"/>
                </a:solidFill>
                <a:latin typeface="Segoe UI"/>
              </a:rPr>
              <a:t>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88335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Assignments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99231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Average of the assignments given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7407" y="2724911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407407" y="2724911"/>
            <a:ext cx="605790" cy="310896"/>
          </a:xfrm>
          <a:prstGeom prst="roundRect">
            <a:avLst>
              <a:gd name="adj" fmla="val 4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54896" y="2715767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F6FB2"/>
                </a:solidFill>
                <a:latin typeface="Segoe UI"/>
              </a:rPr>
              <a:t>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0156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Class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12463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Best 3 out of minimum 4 class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7" y="3438144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07407" y="3438144"/>
            <a:ext cx="2423160" cy="310896"/>
          </a:xfrm>
          <a:prstGeom prst="roundRect">
            <a:avLst>
              <a:gd name="adj" fmla="val 40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54896" y="342899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8F7E"/>
                </a:solidFill>
                <a:latin typeface="Segoe UI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114799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Mid-term Exam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425695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Covers CO 1, 2,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7" y="4151375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07407" y="4151375"/>
            <a:ext cx="3634739" cy="310896"/>
          </a:xfrm>
          <a:prstGeom prst="roundRect">
            <a:avLst>
              <a:gd name="adj" fmla="val 40000"/>
            </a:avLst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54896" y="4142231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B4EA8"/>
                </a:solidFill>
                <a:latin typeface="Segoe UI"/>
              </a:rPr>
              <a:t>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82803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Final Exam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138928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Covers CO 4,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7407" y="4864608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407407" y="4864608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54896" y="48554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Segoe UI"/>
              </a:rPr>
              <a:t>40%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51008" y="1938527"/>
            <a:ext cx="1783080" cy="365760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533888" y="2990087"/>
            <a:ext cx="14630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FD4E6"/>
                </a:solidFill>
                <a:latin typeface="Segoe UI"/>
              </a:rPr>
              <a:t>marks
in 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33288"/>
            <a:ext cx="9418320" cy="62179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" y="5733288"/>
            <a:ext cx="64008" cy="62179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5733288"/>
            <a:ext cx="89611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60 of the 100 marks are earned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before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the final exam — start in week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Grading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7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2" y="2039111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993391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90 – 100  marks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25856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4.00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88335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" y="2788919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743199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86 – 89 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008375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3.67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438144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4672" y="3538727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49300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82 – 85  marks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758183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3.33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187952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4672" y="4288536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242816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78 – 81  marks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507992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3.00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5274" y="1938527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551578" y="2039111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1114" y="1993391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74 – 77  marks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1114" y="225856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2.67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5274" y="2688335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551578" y="2788919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1114" y="2743199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70 – 73  marks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1114" y="3008375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2.33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05274" y="3438144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551578" y="3538727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11114" y="349300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66 – 69  marks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1114" y="3758183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2.00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05274" y="4187952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551578" y="4288536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1114" y="4242816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62 – 65  marks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1114" y="4507992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1.67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52180" y="1938527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298484" y="2039111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D+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8020" y="1993391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58 – 61  marks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8020" y="225856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1.33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52180" y="2688335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8298484" y="2788919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58020" y="2743199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55 – 57  marks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8020" y="3008375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1.00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52180" y="3438144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8298484" y="3538727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C2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8020" y="349300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below 55  marks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8020" y="3758183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0.00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120640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58368" y="5120640"/>
            <a:ext cx="64008" cy="713232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" y="5120640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grade is a by-product, not the goal. Chase the understanding and the grade follows.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Target 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A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: it is only 4 marks away from A- , and those 4 marks usually come from class tests.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FIVE HONEST 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How to do well in this course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799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956815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1911095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Attend and stay awake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8928" y="1947672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Discrete math is a chain of ideas. One missing link breaks the rest.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3347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59536" y="2761488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715768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Solve with a 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2752344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Reading a solution feels like learning. It is not. Write it yourself.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438144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9536" y="35661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3520439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Do Rosen's exercises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3557015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Exam questions are the same species as the book's exercises.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42816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6" y="4370831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4325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Ask the stupid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4361688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It is never stupid, and half the room wanted to ask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047488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59536" y="5175503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5129783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Never memorise a proof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166359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Understand the idea; the lines will write themselves.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99855" y="-1097280"/>
            <a:ext cx="4389120" cy="4389120"/>
          </a:xfrm>
          <a:prstGeom prst="ellipse">
            <a:avLst/>
          </a:prstGeom>
          <a:solidFill>
            <a:srgbClr val="1839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606040"/>
            <a:ext cx="95097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Let’s begin.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5097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dirty="0">
                <a:solidFill>
                  <a:srgbClr val="C3D6E6"/>
                </a:solidFill>
                <a:latin typeface="Segoe UI"/>
              </a:rPr>
              <a:t>Section 1.1 — </a:t>
            </a:r>
            <a:r>
              <a:rPr sz="1700" b="0" i="0">
                <a:solidFill>
                  <a:srgbClr val="C3D6E6"/>
                </a:solidFill>
                <a:latin typeface="Segoe UI"/>
              </a:rPr>
              <a:t>Propositional Logic</a:t>
            </a:r>
            <a:endParaRPr sz="1700" b="0" i="0" dirty="0">
              <a:solidFill>
                <a:srgbClr val="C3D6E6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DBD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ADBD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1285</Words>
  <Application>Microsoft Office PowerPoint</Application>
  <PresentationFormat>Widescreen</PresentationFormat>
  <Paragraphs>234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2005067 - Masnoon Muztahid</cp:lastModifiedBy>
  <cp:revision>6</cp:revision>
  <dcterms:created xsi:type="dcterms:W3CDTF">2013-01-27T09:14:16Z</dcterms:created>
  <dcterms:modified xsi:type="dcterms:W3CDTF">2026-10-27T17:33:21Z</dcterms:modified>
  <cp:category/>
</cp:coreProperties>
</file>